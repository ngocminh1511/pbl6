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a0acfb5e-5d7b-8134-ebff-3ee29eb1a5fa}">
          <p14:sldIdLst>
            <p14:sldId id="256"/>
          </p14:sldIdLst>
        </p14:section>
        <p14:section name="Bối cảnh" id="{23c70753-e8ea-8b6b-394c-afd1b622313b}">
          <p14:sldIdLst>
            <p14:sldId id="257"/>
            <p14:sldId id="258"/>
          </p14:sldIdLst>
        </p14:section>
        <p14:section name="Giải pháp" id="{151833aa-970b-6001-12db-1fba81369531}">
          <p14:sldIdLst>
            <p14:sldId id="259"/>
            <p14:sldId id="260"/>
          </p14:sldIdLst>
        </p14:section>
        <p14:section name="Cấu trúc JSONL" id="{ca8b5b10-c29f-9266-8d65-9ef798aa47ba}">
          <p14:sldIdLst>
            <p14:sldId id="261"/>
            <p14:sldId id="262"/>
            <p14:sldId id="263"/>
          </p14:sldIdLst>
        </p14:section>
        <p14:section name="Khó khăn" id="{cb464699-32ec-c29f-6d9a-da6b3ac40ed7}">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Hôm nay em trình bày phần chuẩn hóa dữ liệu: vì sao phải kết hợp Pháp điển với PDF, hai nguồn khác nhau thế nào, cách em đưa chúng về một cấu trúc chung, và những khó khăn còn phải xử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 đầu hệ thống chỉ dùng Pháp điển vì dữ liệu đã có cấu trúc. Vấn đề là Pháp điển cập nhật chậm: Bộ luật Lao động trong Pháp điển mới phản ánh đến 2021, trong khi văn bản hợp nhất PDF đã gộp 3 luật sửa đổi năm 2025, hiệu lực 1/7/2026. Vì vậy phải nạp thêm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so sánh hai nguồn. Điểm khó nhất là chương: Pháp điển sắp Điều của nghị định, thông tư vào khung chương của Bộ luật, nên số chương không khớp với văn bản gốc. Vì vậy không thể dùng chương để so khớp hai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nguồn có bộ chuyển đổi riêng, nhưng đầu ra là cùng một file chunks.jsonl theo schema v5. Từ đó việc embedding, đưa vào Qdrant và Neo4j là chung. Khi trùng Điều thì bước merge chọn bản mới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nguyên tắc chính. Thứ nhất, đơn vị là Điều; Điều dài thì cắt theo khoản. Thứ hai, định danh dùng số hiệu văn bản và số Điều, vì đây là thứ hai nguồn đều có. Thứ ba, không dùng chương hay mapc để so khớp. Dữ liệu Lao động v5 hiện có 1.481 chunk từ 153 văn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bản ghi thật trong file, Điều 1 Bộ luật Lao động. 20 trường được chia thành 4 nhóm theo màu: định danh, nội dung, vị trí trích dẫn, và hiệu lực phiên bản. Dòng đầu của text là đường dẫn đề mục, giúp embedding có ngữ cảnh văn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định danh dùng để quản lý và nối đồ thị. Nhóm nội dung là thứ được embedding. Nhóm vị trí dùng để ghép câu trích dẫn khi trả lời. Nhóm hiệu lực dùng để lọc khi truy vấn và để chọn phiên bản khi nạp.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một Điều có ở cả Pháp điển và PDF, hệ thống so version_date. Ví dụ NĐ 145/2020 có hiệu lực 2021 nhưng đã bị NĐ 35/2022 sửa, nên version_date là 2022-07-15. Với văn bản bị thay thế, em không xóa dữ liệu cũ mà chỉ đánh dấu hết hiệu lực, để vẫn trả lời được câu hỏi về quy định trước đây.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khó khăn chính. Nặng nhất là chú thích sửa đổi trong PDF văn bản hợp nhất: chú thích rất nhiều, dấu chú thích nằm ngay trong câu và OCR đọc không ổn định, chú thích dài còn tràn sang trang sau. Ngoài ra là lỗi OCR, bảng phụ lục, chương không khớp, version_date chỉ xấp xỉ, và việc phát hiện văn bản thay thế, sửa đổi chưa tự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phần chuẩn hóa đã xong cho Pháp điển và đã có code, test cho PDF, nhưng pipeline PDF chưa chạy trên dữ liệu OCR thật nên chưa có số liệu. Bước tiếp theo là tự phát hiện văn bản thay thế, parse chú thích sửa đổi và xử lý phụ lục.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4A181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2926080"/>
            <a:ext cx="8046720" cy="109728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773168"/>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PBL6 · Chuẩn hóa dữ liệu pháp luật</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lIns="0" tIns="0" rIns="0" bIns="0"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Chuẩn hóa dữ liệu Pháp điển và PDF cho hệ thống hỏi đáp Luật Lao động</a:t>
            </a:r>
            <a:endParaRPr lang="en-US" sz="3600" dirty="0"/>
          </a:p>
        </p:txBody>
      </p:sp>
      <p:sp>
        <p:nvSpPr>
          <p:cNvPr id="3" name="Text 0"/>
          <p:cNvSpPr/>
          <p:nvPr>
            <p:ph idx="101" type="body" hasCustomPrompt="1"/>
          </p:nvPr>
        </p:nvSpPr>
        <p:spPr>
          <a:xfrm>
            <a:off x="548640" y="2926080"/>
            <a:ext cx="8046720" cy="1097280"/>
          </a:xfrm>
          <a:prstGeom prst="rect">
            <a:avLst/>
          </a:prstGeom>
          <a:noFill/>
          <a:ln/>
        </p:spPr>
        <p:txBody>
          <a:bodyPr wrap="square" lIns="0" tIns="0" rIns="0" bIns="0" rtlCol="0" anchor="t"/>
          <a:lstStyle/>
          <a:p>
            <a:pPr indent="0" marL="0">
              <a:buNone/>
            </a:pPr>
            <a:r>
              <a:rPr lang="en-US" sz="1600" dirty="0">
                <a:solidFill>
                  <a:schemeClr val="accent5"/>
                </a:solidFill>
              </a:rPr>
              <a:t>Khó khăn khi kết hợp hai nguồn, cấu trúc chunk chung (JSONL v5) và các vấn đề còn tồn tại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Chỉ dùng Pháp điển thì dữ liệu bị cũ</a:t>
            </a:r>
            <a:endParaRPr lang="en-US" sz="2800" dirty="0"/>
          </a:p>
        </p:txBody>
      </p:sp>
      <p:sp>
        <p:nvSpPr>
          <p:cNvPr id="3" name="card-before"/>
          <p:cNvSpPr/>
          <p:nvPr/>
        </p:nvSpPr>
        <p:spPr>
          <a:xfrm>
            <a:off x="457200" y="1188720"/>
            <a:ext cx="3840480" cy="3291840"/>
          </a:xfrm>
          <a:prstGeom prst="roundRect">
            <a:avLst>
              <a:gd name="adj" fmla="val 2222"/>
            </a:avLst>
          </a:prstGeom>
          <a:solidFill>
            <a:srgbClr val="F4EDEB"/>
          </a:solidFill>
          <a:ln/>
          <a:effectLst>
            <a:outerShdw sx="100000" sy="100000" kx="0" ky="0" algn="bl" rotWithShape="0" blurRad="76200" dist="25400" dir="5400000">
              <a:srgbClr val="000000">
                <a:alpha val="12000"/>
              </a:srgbClr>
            </a:outerShdw>
          </a:effectLst>
        </p:spPr>
      </p:sp>
      <p:sp>
        <p:nvSpPr>
          <p:cNvPr id="4" name="Text 2"/>
          <p:cNvSpPr txBox="1"/>
          <p:nvPr/>
        </p:nvSpPr>
        <p:spPr>
          <a:xfrm>
            <a:off x="731520" y="1371600"/>
            <a:ext cx="329184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Trước đây</a:t>
            </a:r>
            <a:endParaRPr lang="en-US" sz="1800" dirty="0"/>
          </a:p>
        </p:txBody>
      </p:sp>
      <p:sp>
        <p:nvSpPr>
          <p:cNvPr id="5" name="Text 3"/>
          <p:cNvSpPr txBox="1"/>
          <p:nvPr/>
        </p:nvSpPr>
        <p:spPr>
          <a:xfrm>
            <a:off x="731520" y="1874520"/>
            <a:ext cx="3383280" cy="246888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chemeClr val="tx1"/>
                </a:solidFill>
              </a:rPr>
              <a:t>Chỉ xử lý dữ liệu Pháp điển</a:t>
            </a:r>
            <a:endParaRPr lang="en-US" sz="1600" dirty="0"/>
          </a:p>
          <a:p>
            <a:pPr marL="177800" indent="-177800">
              <a:spcAft>
                <a:spcPts val="1200"/>
              </a:spcAft>
              <a:buSzPct val="100000"/>
              <a:buChar char="•"/>
            </a:pPr>
            <a:r>
              <a:rPr lang="en-US" sz="1600" dirty="0">
                <a:solidFill>
                  <a:schemeClr val="tx1"/>
                </a:solidFill>
              </a:rPr>
              <a:t>Dữ liệu có cấu trúc sẵn trong Knowledge Graph</a:t>
            </a:r>
            <a:endParaRPr lang="en-US" sz="1600" dirty="0"/>
          </a:p>
          <a:p>
            <a:pPr marL="177800" indent="-177800">
              <a:spcAft>
                <a:spcPts val="1200"/>
              </a:spcAft>
              <a:buSzPct val="100000"/>
              <a:buChar char="•"/>
            </a:pPr>
            <a:r>
              <a:rPr lang="en-US" sz="1600" dirty="0">
                <a:solidFill>
                  <a:schemeClr val="tx1"/>
                </a:solidFill>
              </a:rPr>
              <a:t>Mỗi Điều có mã pháp điển mapc</a:t>
            </a:r>
            <a:endParaRPr lang="en-US" sz="1600" dirty="0"/>
          </a:p>
          <a:p>
            <a:pPr marL="177800" indent="-177800">
              <a:spcAft>
                <a:spcPts val="1200"/>
              </a:spcAft>
              <a:buSzPct val="100000"/>
              <a:buChar char="•"/>
            </a:pPr>
            <a:r>
              <a:rPr lang="en-US" sz="1600" dirty="0">
                <a:solidFill>
                  <a:schemeClr val="tx1"/>
                </a:solidFill>
              </a:rPr>
              <a:t>Pháp điển cập nhật chậm: văn bản sửa đổi mới chưa được hợp nhất</a:t>
            </a:r>
            <a:endParaRPr lang="en-US" sz="1600" dirty="0"/>
          </a:p>
        </p:txBody>
      </p:sp>
      <p:sp>
        <p:nvSpPr>
          <p:cNvPr id="6" name="Text 4"/>
          <p:cNvSpPr txBox="1"/>
          <p:nvPr/>
        </p:nvSpPr>
        <p:spPr>
          <a:xfrm>
            <a:off x="4663440" y="1234440"/>
            <a:ext cx="4023360" cy="365760"/>
          </a:xfrm>
          <a:prstGeom prst="rect">
            <a:avLst/>
          </a:prstGeom>
          <a:noFill/>
          <a:ln/>
        </p:spPr>
        <p:txBody>
          <a:bodyPr wrap="square" lIns="0" tIns="0" rIns="0" bIns="0" rtlCol="0" anchor="t"/>
          <a:lstStyle/>
          <a:p>
            <a:pPr indent="0" marL="0">
              <a:buNone/>
            </a:pPr>
            <a:r>
              <a:rPr lang="en-US" sz="1500" b="1" dirty="0">
                <a:solidFill>
                  <a:schemeClr val="tx2"/>
                </a:solidFill>
              </a:rPr>
              <a:t>Ví dụ: Bộ luật Lao động 45/2019/QH14</a:t>
            </a:r>
            <a:endParaRPr lang="en-US" sz="1500" dirty="0"/>
          </a:p>
        </p:txBody>
      </p:sp>
      <p:sp>
        <p:nvSpPr>
          <p:cNvPr id="7" name="stat-pd"/>
          <p:cNvSpPr/>
          <p:nvPr/>
        </p:nvSpPr>
        <p:spPr>
          <a:xfrm>
            <a:off x="4663440" y="1691640"/>
            <a:ext cx="1874520" cy="1554480"/>
          </a:xfrm>
          <a:prstGeom prst="roundRect">
            <a:avLst>
              <a:gd name="adj" fmla="val 4706"/>
            </a:avLst>
          </a:prstGeom>
          <a:solidFill>
            <a:srgbClr val="FFFFFF"/>
          </a:solidFill>
          <a:ln/>
          <a:effectLst>
            <a:outerShdw sx="100000" sy="100000" kx="0" ky="0" algn="bl" rotWithShape="0" blurRad="76200" dist="25400" dir="5400000">
              <a:srgbClr val="000000">
                <a:alpha val="12000"/>
              </a:srgbClr>
            </a:outerShdw>
          </a:effectLst>
        </p:spPr>
      </p:sp>
      <p:sp>
        <p:nvSpPr>
          <p:cNvPr id="8" name="Text 6"/>
          <p:cNvSpPr txBox="1"/>
          <p:nvPr/>
        </p:nvSpPr>
        <p:spPr>
          <a:xfrm>
            <a:off x="4663440" y="1783080"/>
            <a:ext cx="1874520" cy="685800"/>
          </a:xfrm>
          <a:prstGeom prst="rect">
            <a:avLst/>
          </a:prstGeom>
          <a:noFill/>
          <a:ln/>
        </p:spPr>
        <p:txBody>
          <a:bodyPr wrap="square" lIns="0" tIns="0" rIns="0" bIns="0" rtlCol="0" anchor="t"/>
          <a:lstStyle/>
          <a:p>
            <a:pPr algn="ctr" indent="0" marL="0">
              <a:buNone/>
            </a:pPr>
            <a:r>
              <a:rPr lang="en-US" sz="4000" b="1" dirty="0">
                <a:solidFill>
                  <a:schemeClr val="accent3"/>
                </a:solidFill>
                <a:latin typeface="Cambria" pitchFamily="34" charset="0"/>
                <a:ea typeface="Cambria" pitchFamily="34" charset="-122"/>
                <a:cs typeface="Cambria" pitchFamily="34" charset="-120"/>
              </a:rPr>
              <a:t>2021</a:t>
            </a:r>
            <a:endParaRPr lang="en-US" sz="4000" dirty="0"/>
          </a:p>
        </p:txBody>
      </p:sp>
      <p:sp>
        <p:nvSpPr>
          <p:cNvPr id="9" name="Text 7"/>
          <p:cNvSpPr txBox="1"/>
          <p:nvPr/>
        </p:nvSpPr>
        <p:spPr>
          <a:xfrm>
            <a:off x="4754880" y="2514600"/>
            <a:ext cx="1691640" cy="640080"/>
          </a:xfrm>
          <a:prstGeom prst="rect">
            <a:avLst/>
          </a:prstGeom>
          <a:noFill/>
          <a:ln/>
        </p:spPr>
        <p:txBody>
          <a:bodyPr wrap="square" lIns="0" tIns="0" rIns="0" bIns="0" rtlCol="0" anchor="t"/>
          <a:lstStyle/>
          <a:p>
            <a:pPr algn="ctr" indent="0" marL="0">
              <a:buNone/>
            </a:pPr>
            <a:r>
              <a:rPr lang="en-US" sz="1100" dirty="0">
                <a:solidFill>
                  <a:schemeClr val="accent6"/>
                </a:solidFill>
              </a:rPr>
              <a:t>Bản trong Pháp điển</a:t>
            </a:r>
            <a:endParaRPr lang="en-US" sz="1100" dirty="0"/>
          </a:p>
          <a:p>
            <a:pPr algn="ctr" indent="0" marL="0">
              <a:buNone/>
            </a:pPr>
            <a:r>
              <a:rPr lang="en-US" sz="1100" dirty="0">
                <a:solidFill>
                  <a:schemeClr val="accent6"/>
                </a:solidFill>
              </a:rPr>
              <a:t>version_date 2021-01-01</a:t>
            </a:r>
            <a:endParaRPr lang="en-US" sz="1100" dirty="0"/>
          </a:p>
        </p:txBody>
      </p:sp>
      <p:sp>
        <p:nvSpPr>
          <p:cNvPr id="10" name="stat-pdf"/>
          <p:cNvSpPr/>
          <p:nvPr/>
        </p:nvSpPr>
        <p:spPr>
          <a:xfrm>
            <a:off x="6812280" y="1691640"/>
            <a:ext cx="1874520" cy="1554480"/>
          </a:xfrm>
          <a:prstGeom prst="roundRect">
            <a:avLst>
              <a:gd name="adj" fmla="val 4706"/>
            </a:avLst>
          </a:prstGeom>
          <a:solidFill>
            <a:srgbClr val="FFFFFF"/>
          </a:solidFill>
          <a:ln/>
          <a:effectLst>
            <a:outerShdw sx="100000" sy="100000" kx="0" ky="0" algn="bl" rotWithShape="0" blurRad="76200" dist="25400" dir="5400000">
              <a:srgbClr val="000000">
                <a:alpha val="12000"/>
              </a:srgbClr>
            </a:outerShdw>
          </a:effectLst>
        </p:spPr>
      </p:sp>
      <p:sp>
        <p:nvSpPr>
          <p:cNvPr id="11" name="Text 9"/>
          <p:cNvSpPr txBox="1"/>
          <p:nvPr/>
        </p:nvSpPr>
        <p:spPr>
          <a:xfrm>
            <a:off x="6812280" y="1783080"/>
            <a:ext cx="1874520" cy="685800"/>
          </a:xfrm>
          <a:prstGeom prst="rect">
            <a:avLst/>
          </a:prstGeom>
          <a:noFill/>
          <a:ln/>
        </p:spPr>
        <p:txBody>
          <a:bodyPr wrap="square" lIns="0" tIns="0" rIns="0" bIns="0" rtlCol="0" anchor="t"/>
          <a:lstStyle/>
          <a:p>
            <a:pPr algn="ctr" indent="0" marL="0">
              <a:buNone/>
            </a:pPr>
            <a:r>
              <a:rPr lang="en-US" sz="4000" b="1" dirty="0">
                <a:solidFill>
                  <a:schemeClr val="accent1"/>
                </a:solidFill>
                <a:latin typeface="Cambria" pitchFamily="34" charset="0"/>
                <a:ea typeface="Cambria" pitchFamily="34" charset="-122"/>
                <a:cs typeface="Cambria" pitchFamily="34" charset="-120"/>
              </a:rPr>
              <a:t>2026</a:t>
            </a:r>
            <a:endParaRPr lang="en-US" sz="4000" dirty="0"/>
          </a:p>
        </p:txBody>
      </p:sp>
      <p:sp>
        <p:nvSpPr>
          <p:cNvPr id="12" name="Text 10"/>
          <p:cNvSpPr txBox="1"/>
          <p:nvPr/>
        </p:nvSpPr>
        <p:spPr>
          <a:xfrm>
            <a:off x="6903720" y="2514600"/>
            <a:ext cx="1691640" cy="640080"/>
          </a:xfrm>
          <a:prstGeom prst="rect">
            <a:avLst/>
          </a:prstGeom>
          <a:noFill/>
          <a:ln/>
        </p:spPr>
        <p:txBody>
          <a:bodyPr wrap="square" lIns="0" tIns="0" rIns="0" bIns="0" rtlCol="0" anchor="t"/>
          <a:lstStyle/>
          <a:p>
            <a:pPr algn="ctr" indent="0" marL="0">
              <a:buNone/>
            </a:pPr>
            <a:r>
              <a:rPr lang="en-US" sz="1100" dirty="0">
                <a:solidFill>
                  <a:schemeClr val="accent6"/>
                </a:solidFill>
              </a:rPr>
              <a:t>VBHN dạng PDF</a:t>
            </a:r>
            <a:endParaRPr lang="en-US" sz="1100" dirty="0"/>
          </a:p>
          <a:p>
            <a:pPr algn="ctr" indent="0" marL="0">
              <a:buNone/>
            </a:pPr>
            <a:r>
              <a:rPr lang="en-US" sz="1100" dirty="0">
                <a:solidFill>
                  <a:schemeClr val="accent6"/>
                </a:solidFill>
              </a:rPr>
              <a:t>version_date 2026-07-01</a:t>
            </a:r>
            <a:endParaRPr lang="en-US" sz="1100" dirty="0"/>
          </a:p>
        </p:txBody>
      </p:sp>
      <p:sp>
        <p:nvSpPr>
          <p:cNvPr id="13" name="arrow-stat"/>
          <p:cNvSpPr/>
          <p:nvPr/>
        </p:nvSpPr>
        <p:spPr>
          <a:xfrm>
            <a:off x="6556248" y="2468880"/>
            <a:ext cx="237744" cy="0"/>
          </a:xfrm>
          <a:prstGeom prst="line">
            <a:avLst/>
          </a:prstGeom>
          <a:noFill/>
          <a:ln w="19050">
            <a:solidFill>
              <a:schemeClr val="accent6"/>
            </a:solidFill>
            <a:prstDash val="solid"/>
            <a:tailEnd type="triangle"/>
          </a:ln>
        </p:spPr>
      </p:sp>
      <p:sp>
        <p:nvSpPr>
          <p:cNvPr id="14" name="Text 12"/>
          <p:cNvSpPr txBox="1"/>
          <p:nvPr/>
        </p:nvSpPr>
        <p:spPr>
          <a:xfrm>
            <a:off x="4663440" y="3474720"/>
            <a:ext cx="4023360" cy="1005840"/>
          </a:xfrm>
          <a:prstGeom prst="rect">
            <a:avLst/>
          </a:prstGeom>
          <a:noFill/>
          <a:ln/>
        </p:spPr>
        <p:txBody>
          <a:bodyPr wrap="square" lIns="0" tIns="0" rIns="0" bIns="0" rtlCol="0" anchor="t"/>
          <a:lstStyle/>
          <a:p>
            <a:pPr indent="0" marL="0">
              <a:buNone/>
            </a:pPr>
            <a:r>
              <a:rPr lang="en-US" sz="1400" dirty="0">
                <a:solidFill>
                  <a:schemeClr val="tx1"/>
                </a:solidFill>
              </a:rPr>
              <a:t>VBHN đã gộp 3 luật sửa đổi năm 2025. Muốn trả lời đúng quy định hiện hành thì phải nạp thêm PDF, nhưng PDF có cấu trúc hoàn toàn khác Pháp điển.</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Hai nguồn có cấu trúc khác nhau</a:t>
            </a:r>
            <a:endParaRPr lang="en-US" sz="2800" dirty="0"/>
          </a:p>
        </p:txBody>
      </p:sp>
      <p:graphicFrame>
        <p:nvGraphicFramePr>
          <p:cNvPr id="4" name="table-compar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828800"/>
                <a:gridCol w="3108960"/>
                <a:gridCol w="32918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Tiêu chí</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8E2C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Pháp điển</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8E2C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PDF</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8E2C24"/>
                    </a:solidFill>
                  </a:tcPr>
                </a:tc>
              </a:tr>
              <a:tr h="384048">
                <a:tc>
                  <a:txBody>
                    <a:bodyPr/>
                    <a:lstStyle/>
                    <a:p>
                      <a:pPr indent="0" marL="0">
                        <a:buNone/>
                      </a:pPr>
                      <a:r>
                        <a:rPr lang="en-US" sz="1300" b="1" dirty="0">
                          <a:solidFill>
                            <a:srgbClr val="4A1814"/>
                          </a:solidFill>
                          <a:latin typeface="Calibri" pitchFamily="34" charset="0"/>
                          <a:ea typeface="Calibri" pitchFamily="34" charset="-122"/>
                          <a:cs typeface="Calibri" pitchFamily="34" charset="-120"/>
                        </a:rPr>
                        <a:t>Dạng dữ liệu</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4EDE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Knowledge Graph có cấu trúc</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4EDE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Ảnh scan → OCR → text thô</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4EDEB"/>
                    </a:solidFill>
                  </a:tcPr>
                </a:tc>
              </a:tr>
              <a:tr h="384048">
                <a:tc>
                  <a:txBody>
                    <a:bodyPr/>
                    <a:lstStyle/>
                    <a:p>
                      <a:pPr indent="0" marL="0">
                        <a:buNone/>
                      </a:pPr>
                      <a:r>
                        <a:rPr lang="en-US" sz="1300" b="1" dirty="0">
                          <a:solidFill>
                            <a:srgbClr val="4A1814"/>
                          </a:solidFill>
                          <a:latin typeface="Calibri" pitchFamily="34" charset="0"/>
                          <a:ea typeface="Calibri" pitchFamily="34" charset="-122"/>
                          <a:cs typeface="Calibri" pitchFamily="34" charset="-120"/>
                        </a:rPr>
                        <a:t>Định danh văn bản</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document_number có sẵn trong KG</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Regex số hiệu ở trang đầu, có thể đọc sai</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4A1814"/>
                          </a:solidFill>
                          <a:latin typeface="Calibri" pitchFamily="34" charset="0"/>
                          <a:ea typeface="Calibri" pitchFamily="34" charset="-122"/>
                          <a:cs typeface="Calibri" pitchFamily="34" charset="-120"/>
                        </a:rPr>
                        <a:t>Mã Điều</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4EDE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Có mã pháp điển mapc</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4EDE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Không có, phải tra ngược từ KG</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4EDEB"/>
                    </a:solidFill>
                  </a:tcPr>
                </a:tc>
              </a:tr>
              <a:tr h="384048">
                <a:tc>
                  <a:txBody>
                    <a:bodyPr/>
                    <a:lstStyle/>
                    <a:p>
                      <a:pPr indent="0" marL="0">
                        <a:buNone/>
                      </a:pPr>
                      <a:r>
                        <a:rPr lang="en-US" sz="1300" b="1" dirty="0">
                          <a:solidFill>
                            <a:srgbClr val="4A1814"/>
                          </a:solidFill>
                          <a:latin typeface="Calibri" pitchFamily="34" charset="0"/>
                          <a:ea typeface="Calibri" pitchFamily="34" charset="-122"/>
                          <a:cs typeface="Calibri" pitchFamily="34" charset="-120"/>
                        </a:rPr>
                        <a:t>Chương, mục</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Chương của đề mục Pháp điển</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Chương của văn bản gốc</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4A1814"/>
                          </a:solidFill>
                          <a:latin typeface="Calibri" pitchFamily="34" charset="0"/>
                          <a:ea typeface="Calibri" pitchFamily="34" charset="-122"/>
                          <a:cs typeface="Calibri" pitchFamily="34" charset="-120"/>
                        </a:rPr>
                        <a:t>Sửa đổi, bổ sung</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4EDE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Đã hợp nhất vào nội dung Điều</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4EDE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Nằm trong chú thích và câu dẫn VBHN</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4EDEB"/>
                    </a:solidFill>
                  </a:tcPr>
                </a:tc>
              </a:tr>
              <a:tr h="384048">
                <a:tc>
                  <a:txBody>
                    <a:bodyPr/>
                    <a:lstStyle/>
                    <a:p>
                      <a:pPr indent="0" marL="0">
                        <a:buNone/>
                      </a:pPr>
                      <a:r>
                        <a:rPr lang="en-US" sz="1300" b="1" dirty="0">
                          <a:solidFill>
                            <a:srgbClr val="4A1814"/>
                          </a:solidFill>
                          <a:latin typeface="Calibri" pitchFamily="34" charset="0"/>
                          <a:ea typeface="Calibri" pitchFamily="34" charset="-122"/>
                          <a:cs typeface="Calibri" pitchFamily="34" charset="-120"/>
                        </a:rPr>
                        <a:t>Ngày hiệu lực</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Có trong KG</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Parse câu "… có hiệu lực từ ngày …"</a:t>
                      </a:r>
                      <a:endParaRPr lang="en-US" sz="1300" dirty="0">
                        <a:latin typeface="Calibri" charset="0"/>
                        <a:ea typeface="Calibri" charset="0"/>
                        <a:cs typeface="Calibri" charset="0"/>
                      </a:endParaRPr>
                    </a:p>
                  </a:txBody>
                  <a:tcPr marL="91440" marR="91440" marT="36576" marB="36576" anchor="ctr">
                    <a:lnL w="6350" cap="flat" cmpd="sng" algn="ctr">
                      <a:solidFill>
                        <a:srgbClr val="D9C7C3"/>
                      </a:solidFill>
                      <a:prstDash val="solid"/>
                      <a:round/>
                      <a:headEnd type="none" w="med" len="med"/>
                      <a:tailEnd type="none" w="med" len="med"/>
                    </a:lnL>
                    <a:lnR w="6350" cap="flat" cmpd="sng" algn="ctr">
                      <a:solidFill>
                        <a:srgbClr val="D9C7C3"/>
                      </a:solidFill>
                      <a:prstDash val="solid"/>
                      <a:round/>
                      <a:headEnd type="none" w="med" len="med"/>
                      <a:tailEnd type="none" w="med" len="med"/>
                    </a:lnR>
                    <a:lnT w="6350" cap="flat" cmpd="sng" algn="ctr">
                      <a:solidFill>
                        <a:srgbClr val="D9C7C3"/>
                      </a:solidFill>
                      <a:prstDash val="solid"/>
                      <a:round/>
                      <a:headEnd type="none" w="med" len="med"/>
                      <a:tailEnd type="none" w="med" len="med"/>
                    </a:lnT>
                    <a:lnB w="6350" cap="flat" cmpd="sng" algn="ctr">
                      <a:solidFill>
                        <a:srgbClr val="D9C7C3"/>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300" i="1" dirty="0">
                <a:solidFill>
                  <a:schemeClr val="accent3"/>
                </a:solidFill>
              </a:rPr>
              <a:t>Hệ quả: không thể ghép thẳng hai nguồn. Ví dụ Pháp điển xếp Điều 10 NĐ 145/2020 vào "Chương III. Hợp đồng lao động" của Bộ luật, trong khi ở Nghị định gốc nó thuộc chương khác.</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Đưa hai nguồn về một chuẩn chunk chung</a:t>
            </a:r>
            <a:endParaRPr lang="en-US" sz="2800" dirty="0"/>
          </a:p>
        </p:txBody>
      </p:sp>
      <p:sp>
        <p:nvSpPr>
          <p:cNvPr id="3" name="Text 1"/>
          <p:cNvSpPr txBox="1"/>
          <p:nvPr/>
        </p:nvSpPr>
        <p:spPr>
          <a:xfrm>
            <a:off x="457200" y="1097280"/>
            <a:ext cx="1828800" cy="274320"/>
          </a:xfrm>
          <a:prstGeom prst="rect">
            <a:avLst/>
          </a:prstGeom>
          <a:noFill/>
          <a:ln/>
        </p:spPr>
        <p:txBody>
          <a:bodyPr wrap="square" lIns="0" tIns="0" rIns="0" bIns="0" rtlCol="0" anchor="t"/>
          <a:lstStyle/>
          <a:p>
            <a:pPr indent="0" marL="0">
              <a:buNone/>
            </a:pPr>
            <a:r>
              <a:rPr lang="en-US" sz="1200" b="1" dirty="0">
                <a:solidFill>
                  <a:schemeClr val="accent3"/>
                </a:solidFill>
              </a:rPr>
              <a:t>Pháp điển</a:t>
            </a:r>
            <a:endParaRPr lang="en-US" sz="1200" dirty="0"/>
          </a:p>
        </p:txBody>
      </p:sp>
      <p:sp>
        <p:nvSpPr>
          <p:cNvPr id="4" name="pd-kg"/>
          <p:cNvSpPr/>
          <p:nvPr/>
        </p:nvSpPr>
        <p:spPr>
          <a:xfrm>
            <a:off x="457200" y="1371600"/>
            <a:ext cx="1645920" cy="777240"/>
          </a:xfrm>
          <a:prstGeom prst="roundRect">
            <a:avLst>
              <a:gd name="adj" fmla="val 9412"/>
            </a:avLst>
          </a:prstGeom>
          <a:solidFill>
            <a:srgbClr val="F4EDEB"/>
          </a:solidFill>
          <a:ln/>
          <a:effectLst>
            <a:outerShdw sx="100000" sy="100000" kx="0" ky="0" algn="bl" rotWithShape="0" blurRad="76200" dist="25400" dir="5400000">
              <a:srgbClr val="000000">
                <a:alpha val="12000"/>
              </a:srgbClr>
            </a:outerShdw>
          </a:effectLst>
        </p:spPr>
      </p:sp>
      <p:sp>
        <p:nvSpPr>
          <p:cNvPr id="5" name="pd-kg-text"/>
          <p:cNvSpPr txBox="1"/>
          <p:nvPr/>
        </p:nvSpPr>
        <p:spPr>
          <a:xfrm>
            <a:off x="548640" y="1371600"/>
            <a:ext cx="1463040" cy="777240"/>
          </a:xfrm>
          <a:prstGeom prst="rect">
            <a:avLst/>
          </a:prstGeom>
          <a:noFill/>
          <a:ln/>
        </p:spPr>
        <p:txBody>
          <a:bodyPr wrap="square" lIns="0" tIns="0" rIns="0" bIns="0" rtlCol="0" anchor="ctr"/>
          <a:lstStyle/>
          <a:p>
            <a:pPr algn="ctr" indent="0" marL="0">
              <a:buNone/>
            </a:pPr>
            <a:r>
              <a:rPr lang="en-US" sz="1300" b="1" dirty="0">
                <a:solidFill>
                  <a:srgbClr val="4A1814"/>
                </a:solidFill>
              </a:rPr>
              <a:t>KG Pháp điển</a:t>
            </a:r>
            <a:endParaRPr lang="en-US" sz="1400" dirty="0"/>
          </a:p>
          <a:p>
            <a:pPr algn="ctr" indent="0" marL="0">
              <a:buNone/>
            </a:pPr>
            <a:r>
              <a:rPr lang="en-US" sz="1100" dirty="0">
                <a:solidFill>
                  <a:srgbClr val="4A1814"/>
                </a:solidFill>
              </a:rPr>
              <a:t>ABox chủ đề Lao động</a:t>
            </a:r>
            <a:endParaRPr lang="en-US" sz="1400" dirty="0"/>
          </a:p>
        </p:txBody>
      </p:sp>
      <p:sp>
        <p:nvSpPr>
          <p:cNvPr id="6" name="pd-conv"/>
          <p:cNvSpPr/>
          <p:nvPr/>
        </p:nvSpPr>
        <p:spPr>
          <a:xfrm>
            <a:off x="2423160" y="1371600"/>
            <a:ext cx="2971800" cy="777240"/>
          </a:xfrm>
          <a:prstGeom prst="roundRect">
            <a:avLst>
              <a:gd name="adj" fmla="val 9412"/>
            </a:avLst>
          </a:prstGeom>
          <a:solidFill>
            <a:srgbClr val="F4EDEB"/>
          </a:solidFill>
          <a:ln/>
          <a:effectLst>
            <a:outerShdw sx="100000" sy="100000" kx="0" ky="0" algn="bl" rotWithShape="0" blurRad="76200" dist="25400" dir="5400000">
              <a:srgbClr val="000000">
                <a:alpha val="12000"/>
              </a:srgbClr>
            </a:outerShdw>
          </a:effectLst>
        </p:spPr>
      </p:sp>
      <p:sp>
        <p:nvSpPr>
          <p:cNvPr id="7" name="pd-conv-text"/>
          <p:cNvSpPr txBox="1"/>
          <p:nvPr/>
        </p:nvSpPr>
        <p:spPr>
          <a:xfrm>
            <a:off x="2514600" y="1371600"/>
            <a:ext cx="2788920" cy="777240"/>
          </a:xfrm>
          <a:prstGeom prst="rect">
            <a:avLst/>
          </a:prstGeom>
          <a:noFill/>
          <a:ln/>
        </p:spPr>
        <p:txBody>
          <a:bodyPr wrap="square" lIns="0" tIns="0" rIns="0" bIns="0" rtlCol="0" anchor="ctr"/>
          <a:lstStyle/>
          <a:p>
            <a:pPr algn="ctr" indent="0" marL="0">
              <a:buNone/>
            </a:pPr>
            <a:r>
              <a:rPr lang="en-US" sz="1300" b="1" dirty="0">
                <a:solidFill>
                  <a:srgbClr val="4A1814"/>
                </a:solidFill>
              </a:rPr>
              <a:t>ontology_to_jsonl.py</a:t>
            </a:r>
            <a:endParaRPr lang="en-US" sz="1400" dirty="0"/>
          </a:p>
          <a:p>
            <a:pPr algn="ctr" indent="0" marL="0">
              <a:buNone/>
            </a:pPr>
            <a:r>
              <a:rPr lang="en-US" sz="1100" dirty="0">
                <a:solidFill>
                  <a:srgbClr val="4A1814"/>
                </a:solidFill>
              </a:rPr>
              <a:t>Đọc Điều, mapc, ngày hiệu lực từ KG</a:t>
            </a:r>
            <a:endParaRPr lang="en-US" sz="1400" dirty="0"/>
          </a:p>
        </p:txBody>
      </p:sp>
      <p:sp>
        <p:nvSpPr>
          <p:cNvPr id="8" name="Text 6"/>
          <p:cNvSpPr txBox="1"/>
          <p:nvPr/>
        </p:nvSpPr>
        <p:spPr>
          <a:xfrm>
            <a:off x="457200" y="2606040"/>
            <a:ext cx="1828800" cy="274320"/>
          </a:xfrm>
          <a:prstGeom prst="rect">
            <a:avLst/>
          </a:prstGeom>
          <a:noFill/>
          <a:ln/>
        </p:spPr>
        <p:txBody>
          <a:bodyPr wrap="square" lIns="0" tIns="0" rIns="0" bIns="0" rtlCol="0" anchor="t"/>
          <a:lstStyle/>
          <a:p>
            <a:pPr indent="0" marL="0">
              <a:buNone/>
            </a:pPr>
            <a:r>
              <a:rPr lang="en-US" sz="1200" b="1" dirty="0">
                <a:solidFill>
                  <a:schemeClr val="accent3"/>
                </a:solidFill>
              </a:rPr>
              <a:t>PDF</a:t>
            </a:r>
            <a:endParaRPr lang="en-US" sz="1200" dirty="0"/>
          </a:p>
        </p:txBody>
      </p:sp>
      <p:sp>
        <p:nvSpPr>
          <p:cNvPr id="9" name="pdf-src"/>
          <p:cNvSpPr/>
          <p:nvPr/>
        </p:nvSpPr>
        <p:spPr>
          <a:xfrm>
            <a:off x="457200" y="2880360"/>
            <a:ext cx="1645920" cy="777240"/>
          </a:xfrm>
          <a:prstGeom prst="roundRect">
            <a:avLst>
              <a:gd name="adj" fmla="val 9412"/>
            </a:avLst>
          </a:prstGeom>
          <a:solidFill>
            <a:srgbClr val="F4EDEB"/>
          </a:solidFill>
          <a:ln/>
          <a:effectLst>
            <a:outerShdw sx="100000" sy="100000" kx="0" ky="0" algn="bl" rotWithShape="0" blurRad="76200" dist="25400" dir="5400000">
              <a:srgbClr val="000000">
                <a:alpha val="12000"/>
              </a:srgbClr>
            </a:outerShdw>
          </a:effectLst>
        </p:spPr>
      </p:sp>
      <p:sp>
        <p:nvSpPr>
          <p:cNvPr id="10" name="pdf-src-text"/>
          <p:cNvSpPr txBox="1"/>
          <p:nvPr/>
        </p:nvSpPr>
        <p:spPr>
          <a:xfrm>
            <a:off x="548640" y="2880360"/>
            <a:ext cx="1463040" cy="777240"/>
          </a:xfrm>
          <a:prstGeom prst="rect">
            <a:avLst/>
          </a:prstGeom>
          <a:noFill/>
          <a:ln/>
        </p:spPr>
        <p:txBody>
          <a:bodyPr wrap="square" lIns="0" tIns="0" rIns="0" bIns="0" rtlCol="0" anchor="ctr"/>
          <a:lstStyle/>
          <a:p>
            <a:pPr algn="ctr" indent="0" marL="0">
              <a:buNone/>
            </a:pPr>
            <a:r>
              <a:rPr lang="en-US" sz="1300" b="1" dirty="0">
                <a:solidFill>
                  <a:srgbClr val="4A1814"/>
                </a:solidFill>
              </a:rPr>
              <a:t>PDF văn bản</a:t>
            </a:r>
            <a:endParaRPr lang="en-US" sz="1400" dirty="0"/>
          </a:p>
          <a:p>
            <a:pPr algn="ctr" indent="0" marL="0">
              <a:buNone/>
            </a:pPr>
            <a:r>
              <a:rPr lang="en-US" sz="1100" dirty="0">
                <a:solidFill>
                  <a:srgbClr val="4A1814"/>
                </a:solidFill>
              </a:rPr>
              <a:t>Văn bản gốc / VBHN</a:t>
            </a:r>
            <a:endParaRPr lang="en-US" sz="1400" dirty="0"/>
          </a:p>
        </p:txBody>
      </p:sp>
      <p:sp>
        <p:nvSpPr>
          <p:cNvPr id="11" name="pdf-ocr"/>
          <p:cNvSpPr/>
          <p:nvPr/>
        </p:nvSpPr>
        <p:spPr>
          <a:xfrm>
            <a:off x="2423160" y="2880360"/>
            <a:ext cx="1325880" cy="777240"/>
          </a:xfrm>
          <a:prstGeom prst="roundRect">
            <a:avLst>
              <a:gd name="adj" fmla="val 9412"/>
            </a:avLst>
          </a:prstGeom>
          <a:solidFill>
            <a:srgbClr val="F4EDEB"/>
          </a:solidFill>
          <a:ln/>
          <a:effectLst>
            <a:outerShdw sx="100000" sy="100000" kx="0" ky="0" algn="bl" rotWithShape="0" blurRad="76200" dist="25400" dir="5400000">
              <a:srgbClr val="000000">
                <a:alpha val="12000"/>
              </a:srgbClr>
            </a:outerShdw>
          </a:effectLst>
        </p:spPr>
      </p:sp>
      <p:sp>
        <p:nvSpPr>
          <p:cNvPr id="12" name="pdf-ocr-text"/>
          <p:cNvSpPr txBox="1"/>
          <p:nvPr/>
        </p:nvSpPr>
        <p:spPr>
          <a:xfrm>
            <a:off x="2514600" y="2880360"/>
            <a:ext cx="1143000" cy="777240"/>
          </a:xfrm>
          <a:prstGeom prst="rect">
            <a:avLst/>
          </a:prstGeom>
          <a:noFill/>
          <a:ln/>
        </p:spPr>
        <p:txBody>
          <a:bodyPr wrap="square" lIns="0" tIns="0" rIns="0" bIns="0" rtlCol="0" anchor="ctr"/>
          <a:lstStyle/>
          <a:p>
            <a:pPr algn="ctr" indent="0" marL="0">
              <a:buNone/>
            </a:pPr>
            <a:r>
              <a:rPr lang="en-US" sz="1300" b="1" dirty="0">
                <a:solidFill>
                  <a:srgbClr val="4A1814"/>
                </a:solidFill>
              </a:rPr>
              <a:t>OCR + structure</a:t>
            </a:r>
            <a:endParaRPr lang="en-US" sz="1400" dirty="0"/>
          </a:p>
          <a:p>
            <a:pPr algn="ctr" indent="0" marL="0">
              <a:buNone/>
            </a:pPr>
            <a:r>
              <a:rPr lang="en-US" sz="1100" dirty="0">
                <a:solidFill>
                  <a:srgbClr val="4A1814"/>
                </a:solidFill>
              </a:rPr>
              <a:t>Tách Chương, Điều, chú thích</a:t>
            </a:r>
            <a:endParaRPr lang="en-US" sz="1400" dirty="0"/>
          </a:p>
        </p:txBody>
      </p:sp>
      <p:sp>
        <p:nvSpPr>
          <p:cNvPr id="13" name="pdf-conv"/>
          <p:cNvSpPr/>
          <p:nvPr/>
        </p:nvSpPr>
        <p:spPr>
          <a:xfrm>
            <a:off x="4069080" y="2880360"/>
            <a:ext cx="1325880" cy="777240"/>
          </a:xfrm>
          <a:prstGeom prst="roundRect">
            <a:avLst>
              <a:gd name="adj" fmla="val 9412"/>
            </a:avLst>
          </a:prstGeom>
          <a:solidFill>
            <a:srgbClr val="F4EDEB"/>
          </a:solidFill>
          <a:ln/>
          <a:effectLst>
            <a:outerShdw sx="100000" sy="100000" kx="0" ky="0" algn="bl" rotWithShape="0" blurRad="76200" dist="25400" dir="5400000">
              <a:srgbClr val="000000">
                <a:alpha val="12000"/>
              </a:srgbClr>
            </a:outerShdw>
          </a:effectLst>
        </p:spPr>
      </p:sp>
      <p:sp>
        <p:nvSpPr>
          <p:cNvPr id="14" name="pdf-conv-text"/>
          <p:cNvSpPr txBox="1"/>
          <p:nvPr/>
        </p:nvSpPr>
        <p:spPr>
          <a:xfrm>
            <a:off x="4160520" y="2880360"/>
            <a:ext cx="1143000" cy="777240"/>
          </a:xfrm>
          <a:prstGeom prst="rect">
            <a:avLst/>
          </a:prstGeom>
          <a:noFill/>
          <a:ln/>
        </p:spPr>
        <p:txBody>
          <a:bodyPr wrap="square" lIns="0" tIns="0" rIns="0" bIns="0" rtlCol="0" anchor="ctr"/>
          <a:lstStyle/>
          <a:p>
            <a:pPr algn="ctr" indent="0" marL="0">
              <a:buNone/>
            </a:pPr>
            <a:r>
              <a:rPr lang="en-US" sz="1300" b="1" dirty="0">
                <a:solidFill>
                  <a:srgbClr val="4A1814"/>
                </a:solidFill>
              </a:rPr>
              <a:t>pdf_to_chunks</a:t>
            </a:r>
            <a:endParaRPr lang="en-US" sz="1400" dirty="0"/>
          </a:p>
          <a:p>
            <a:pPr algn="ctr" indent="0" marL="0">
              <a:buNone/>
            </a:pPr>
            <a:r>
              <a:rPr lang="en-US" sz="1100" dirty="0">
                <a:solidFill>
                  <a:srgbClr val="4A1814"/>
                </a:solidFill>
              </a:rPr>
              <a:t>Tra mapc từ KG</a:t>
            </a:r>
            <a:endParaRPr lang="en-US" sz="1400" dirty="0"/>
          </a:p>
        </p:txBody>
      </p:sp>
      <p:sp>
        <p:nvSpPr>
          <p:cNvPr id="15" name="a1"/>
          <p:cNvSpPr/>
          <p:nvPr/>
        </p:nvSpPr>
        <p:spPr>
          <a:xfrm>
            <a:off x="2121408" y="1755648"/>
            <a:ext cx="283464" cy="0"/>
          </a:xfrm>
          <a:prstGeom prst="line">
            <a:avLst/>
          </a:prstGeom>
          <a:noFill/>
          <a:ln w="19050">
            <a:solidFill>
              <a:schemeClr val="accent6"/>
            </a:solidFill>
            <a:prstDash val="solid"/>
            <a:tailEnd type="triangle"/>
          </a:ln>
        </p:spPr>
      </p:sp>
      <p:sp>
        <p:nvSpPr>
          <p:cNvPr id="16" name="a2"/>
          <p:cNvSpPr/>
          <p:nvPr/>
        </p:nvSpPr>
        <p:spPr>
          <a:xfrm>
            <a:off x="2121408" y="3264408"/>
            <a:ext cx="283464" cy="0"/>
          </a:xfrm>
          <a:prstGeom prst="line">
            <a:avLst/>
          </a:prstGeom>
          <a:noFill/>
          <a:ln w="19050">
            <a:solidFill>
              <a:schemeClr val="accent6"/>
            </a:solidFill>
            <a:prstDash val="solid"/>
            <a:tailEnd type="triangle"/>
          </a:ln>
        </p:spPr>
      </p:sp>
      <p:sp>
        <p:nvSpPr>
          <p:cNvPr id="17" name="a3"/>
          <p:cNvSpPr/>
          <p:nvPr/>
        </p:nvSpPr>
        <p:spPr>
          <a:xfrm>
            <a:off x="3767328" y="3264408"/>
            <a:ext cx="283464" cy="0"/>
          </a:xfrm>
          <a:prstGeom prst="line">
            <a:avLst/>
          </a:prstGeom>
          <a:noFill/>
          <a:ln w="19050">
            <a:solidFill>
              <a:schemeClr val="accent6"/>
            </a:solidFill>
            <a:prstDash val="solid"/>
            <a:tailEnd type="triangle"/>
          </a:ln>
        </p:spPr>
      </p:sp>
      <p:sp>
        <p:nvSpPr>
          <p:cNvPr id="18" name="jsonl"/>
          <p:cNvSpPr/>
          <p:nvPr/>
        </p:nvSpPr>
        <p:spPr>
          <a:xfrm>
            <a:off x="5760720" y="1371600"/>
            <a:ext cx="1325880" cy="2286000"/>
          </a:xfrm>
          <a:prstGeom prst="roundRect">
            <a:avLst>
              <a:gd name="adj" fmla="val 5517"/>
            </a:avLst>
          </a:prstGeom>
          <a:solidFill>
            <a:srgbClr val="8E2C24"/>
          </a:solidFill>
          <a:ln/>
          <a:effectLst>
            <a:outerShdw sx="100000" sy="100000" kx="0" ky="0" algn="bl" rotWithShape="0" blurRad="76200" dist="25400" dir="5400000">
              <a:srgbClr val="000000">
                <a:alpha val="12000"/>
              </a:srgbClr>
            </a:outerShdw>
          </a:effectLst>
        </p:spPr>
      </p:sp>
      <p:sp>
        <p:nvSpPr>
          <p:cNvPr id="19" name="jsonl-text"/>
          <p:cNvSpPr txBox="1"/>
          <p:nvPr/>
        </p:nvSpPr>
        <p:spPr>
          <a:xfrm>
            <a:off x="5852160" y="1371600"/>
            <a:ext cx="1143000" cy="2286000"/>
          </a:xfrm>
          <a:prstGeom prst="rect">
            <a:avLst/>
          </a:prstGeom>
          <a:noFill/>
          <a:ln/>
        </p:spPr>
        <p:txBody>
          <a:bodyPr wrap="square" lIns="0" tIns="0" rIns="0" bIns="0" rtlCol="0" anchor="ctr"/>
          <a:lstStyle/>
          <a:p>
            <a:pPr algn="ctr" indent="0" marL="0">
              <a:buNone/>
            </a:pPr>
            <a:r>
              <a:rPr lang="en-US" sz="1300" b="1" dirty="0">
                <a:solidFill>
                  <a:srgbClr val="FFFFFF"/>
                </a:solidFill>
              </a:rPr>
              <a:t>chunks.jsonl</a:t>
            </a:r>
            <a:endParaRPr lang="en-US" sz="1400" dirty="0"/>
          </a:p>
          <a:p>
            <a:pPr algn="ctr" indent="0" marL="0">
              <a:buNone/>
            </a:pPr>
            <a:r>
              <a:rPr lang="en-US" sz="1100" dirty="0">
                <a:solidFill>
                  <a:srgbClr val="FFFFFF"/>
                </a:solidFill>
              </a:rPr>
              <a:t>Schema v5 chung cho cả hai nguồn</a:t>
            </a:r>
            <a:endParaRPr lang="en-US" sz="1400" dirty="0"/>
          </a:p>
        </p:txBody>
      </p:sp>
      <p:sp>
        <p:nvSpPr>
          <p:cNvPr id="20" name="a4"/>
          <p:cNvSpPr/>
          <p:nvPr/>
        </p:nvSpPr>
        <p:spPr>
          <a:xfrm>
            <a:off x="5413248" y="1755648"/>
            <a:ext cx="329184" cy="0"/>
          </a:xfrm>
          <a:prstGeom prst="line">
            <a:avLst/>
          </a:prstGeom>
          <a:noFill/>
          <a:ln w="19050">
            <a:solidFill>
              <a:schemeClr val="accent6"/>
            </a:solidFill>
            <a:prstDash val="solid"/>
            <a:tailEnd type="triangle"/>
          </a:ln>
        </p:spPr>
      </p:sp>
      <p:sp>
        <p:nvSpPr>
          <p:cNvPr id="21" name="a5"/>
          <p:cNvSpPr/>
          <p:nvPr/>
        </p:nvSpPr>
        <p:spPr>
          <a:xfrm>
            <a:off x="5413248" y="3264408"/>
            <a:ext cx="329184" cy="0"/>
          </a:xfrm>
          <a:prstGeom prst="line">
            <a:avLst/>
          </a:prstGeom>
          <a:noFill/>
          <a:ln w="19050">
            <a:solidFill>
              <a:schemeClr val="accent6"/>
            </a:solidFill>
            <a:prstDash val="solid"/>
            <a:tailEnd type="triangle"/>
          </a:ln>
        </p:spPr>
      </p:sp>
      <p:sp>
        <p:nvSpPr>
          <p:cNvPr id="22" name="qdrant"/>
          <p:cNvSpPr/>
          <p:nvPr/>
        </p:nvSpPr>
        <p:spPr>
          <a:xfrm>
            <a:off x="7452360" y="1371600"/>
            <a:ext cx="1234440" cy="1005840"/>
          </a:xfrm>
          <a:prstGeom prst="roundRect">
            <a:avLst>
              <a:gd name="adj" fmla="val 7273"/>
            </a:avLst>
          </a:prstGeom>
          <a:solidFill>
            <a:srgbClr val="F4EDEB"/>
          </a:solidFill>
          <a:ln/>
          <a:effectLst>
            <a:outerShdw sx="100000" sy="100000" kx="0" ky="0" algn="bl" rotWithShape="0" blurRad="76200" dist="25400" dir="5400000">
              <a:srgbClr val="000000">
                <a:alpha val="12000"/>
              </a:srgbClr>
            </a:outerShdw>
          </a:effectLst>
        </p:spPr>
      </p:sp>
      <p:sp>
        <p:nvSpPr>
          <p:cNvPr id="23" name="qdrant-text"/>
          <p:cNvSpPr txBox="1"/>
          <p:nvPr/>
        </p:nvSpPr>
        <p:spPr>
          <a:xfrm>
            <a:off x="7543800" y="1371600"/>
            <a:ext cx="1051560" cy="1005840"/>
          </a:xfrm>
          <a:prstGeom prst="rect">
            <a:avLst/>
          </a:prstGeom>
          <a:noFill/>
          <a:ln/>
        </p:spPr>
        <p:txBody>
          <a:bodyPr wrap="square" lIns="0" tIns="0" rIns="0" bIns="0" rtlCol="0" anchor="ctr"/>
          <a:lstStyle/>
          <a:p>
            <a:pPr algn="ctr" indent="0" marL="0">
              <a:buNone/>
            </a:pPr>
            <a:r>
              <a:rPr lang="en-US" sz="1300" b="1" dirty="0">
                <a:solidFill>
                  <a:srgbClr val="4A1814"/>
                </a:solidFill>
              </a:rPr>
              <a:t>Qdrant</a:t>
            </a:r>
            <a:endParaRPr lang="en-US" sz="1400" dirty="0"/>
          </a:p>
          <a:p>
            <a:pPr algn="ctr" indent="0" marL="0">
              <a:buNone/>
            </a:pPr>
            <a:r>
              <a:rPr lang="en-US" sz="1100" dirty="0">
                <a:solidFill>
                  <a:srgbClr val="4A1814"/>
                </a:solidFill>
              </a:rPr>
              <a:t>Vector + payload lọc hiệu lực</a:t>
            </a:r>
            <a:endParaRPr lang="en-US" sz="1400" dirty="0"/>
          </a:p>
        </p:txBody>
      </p:sp>
      <p:sp>
        <p:nvSpPr>
          <p:cNvPr id="24" name="neo4j"/>
          <p:cNvSpPr/>
          <p:nvPr/>
        </p:nvSpPr>
        <p:spPr>
          <a:xfrm>
            <a:off x="7452360" y="2651760"/>
            <a:ext cx="1234440" cy="1005840"/>
          </a:xfrm>
          <a:prstGeom prst="roundRect">
            <a:avLst>
              <a:gd name="adj" fmla="val 7273"/>
            </a:avLst>
          </a:prstGeom>
          <a:solidFill>
            <a:srgbClr val="F4EDEB"/>
          </a:solidFill>
          <a:ln/>
          <a:effectLst>
            <a:outerShdw sx="100000" sy="100000" kx="0" ky="0" algn="bl" rotWithShape="0" blurRad="76200" dist="25400" dir="5400000">
              <a:srgbClr val="000000">
                <a:alpha val="12000"/>
              </a:srgbClr>
            </a:outerShdw>
          </a:effectLst>
        </p:spPr>
      </p:sp>
      <p:sp>
        <p:nvSpPr>
          <p:cNvPr id="25" name="neo4j-text"/>
          <p:cNvSpPr txBox="1"/>
          <p:nvPr/>
        </p:nvSpPr>
        <p:spPr>
          <a:xfrm>
            <a:off x="7543800" y="2651760"/>
            <a:ext cx="1051560" cy="1005840"/>
          </a:xfrm>
          <a:prstGeom prst="rect">
            <a:avLst/>
          </a:prstGeom>
          <a:noFill/>
          <a:ln/>
        </p:spPr>
        <p:txBody>
          <a:bodyPr wrap="square" lIns="0" tIns="0" rIns="0" bIns="0" rtlCol="0" anchor="ctr"/>
          <a:lstStyle/>
          <a:p>
            <a:pPr algn="ctr" indent="0" marL="0">
              <a:buNone/>
            </a:pPr>
            <a:r>
              <a:rPr lang="en-US" sz="1300" b="1" dirty="0">
                <a:solidFill>
                  <a:srgbClr val="4A1814"/>
                </a:solidFill>
              </a:rPr>
              <a:t>Neo4j</a:t>
            </a:r>
            <a:endParaRPr lang="en-US" sz="1400" dirty="0"/>
          </a:p>
          <a:p>
            <a:pPr algn="ctr" indent="0" marL="0">
              <a:buNone/>
            </a:pPr>
            <a:r>
              <a:rPr lang="en-US" sz="1100" dirty="0">
                <a:solidFill>
                  <a:srgbClr val="4A1814"/>
                </a:solidFill>
              </a:rPr>
              <a:t>Đồ thị, nối qua mapc</a:t>
            </a:r>
            <a:endParaRPr lang="en-US" sz="1400" dirty="0"/>
          </a:p>
        </p:txBody>
      </p:sp>
      <p:sp>
        <p:nvSpPr>
          <p:cNvPr id="26" name="a6"/>
          <p:cNvSpPr/>
          <p:nvPr/>
        </p:nvSpPr>
        <p:spPr>
          <a:xfrm>
            <a:off x="7104888" y="1874520"/>
            <a:ext cx="329184" cy="0"/>
          </a:xfrm>
          <a:prstGeom prst="line">
            <a:avLst/>
          </a:prstGeom>
          <a:noFill/>
          <a:ln w="19050">
            <a:solidFill>
              <a:schemeClr val="accent6"/>
            </a:solidFill>
            <a:prstDash val="solid"/>
            <a:tailEnd type="triangle"/>
          </a:ln>
        </p:spPr>
      </p:sp>
      <p:sp>
        <p:nvSpPr>
          <p:cNvPr id="27" name="a7"/>
          <p:cNvSpPr/>
          <p:nvPr/>
        </p:nvSpPr>
        <p:spPr>
          <a:xfrm>
            <a:off x="7104888" y="3154680"/>
            <a:ext cx="329184" cy="0"/>
          </a:xfrm>
          <a:prstGeom prst="line">
            <a:avLst/>
          </a:prstGeom>
          <a:noFill/>
          <a:ln w="19050">
            <a:solidFill>
              <a:schemeClr val="accent6"/>
            </a:solidFill>
            <a:prstDash val="solid"/>
            <a:tailEnd type="triangle"/>
          </a:ln>
        </p:spPr>
      </p:sp>
      <p:sp>
        <p:nvSpPr>
          <p:cNvPr id="28" name="Text 26"/>
          <p:cNvSpPr txBox="1"/>
          <p:nvPr/>
        </p:nvSpPr>
        <p:spPr>
          <a:xfrm>
            <a:off x="457200" y="3977640"/>
            <a:ext cx="8229600" cy="548640"/>
          </a:xfrm>
          <a:prstGeom prst="rect">
            <a:avLst/>
          </a:prstGeom>
          <a:noFill/>
          <a:ln/>
        </p:spPr>
        <p:txBody>
          <a:bodyPr wrap="square" lIns="0" tIns="0" rIns="0" bIns="0" rtlCol="0" anchor="t"/>
          <a:lstStyle/>
          <a:p>
            <a:pPr indent="0" marL="0">
              <a:buNone/>
            </a:pPr>
            <a:r>
              <a:rPr lang="en-US" sz="1400" dirty="0">
                <a:solidFill>
                  <a:schemeClr val="accent3"/>
                </a:solidFill>
              </a:rPr>
              <a:t>Khi một Điều có ở cả hai nguồn, merge.py (embed_and_index --upsert) giữ bản có version_date lớn hơn.</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 nguyên tắc của chuẩn chung</a:t>
            </a:r>
            <a:endParaRPr lang="en-US" sz="2800" dirty="0"/>
          </a:p>
        </p:txBody>
      </p:sp>
      <p:sp>
        <p:nvSpPr>
          <p:cNvPr id="3" name="rule-1"/>
          <p:cNvSpPr/>
          <p:nvPr/>
        </p:nvSpPr>
        <p:spPr>
          <a:xfrm>
            <a:off x="457200" y="1188720"/>
            <a:ext cx="457200" cy="457200"/>
          </a:xfrm>
          <a:prstGeom prst="ellipse">
            <a:avLst/>
          </a:prstGeom>
          <a:solidFill>
            <a:srgbClr val="8E2C24"/>
          </a:solidFill>
          <a:ln/>
        </p:spPr>
      </p:sp>
      <p:sp>
        <p:nvSpPr>
          <p:cNvPr id="4" name="rule-1-label"/>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97280" y="1143000"/>
            <a:ext cx="4206240" cy="320040"/>
          </a:xfrm>
          <a:prstGeom prst="rect">
            <a:avLst/>
          </a:prstGeom>
          <a:noFill/>
          <a:ln/>
        </p:spPr>
        <p:txBody>
          <a:bodyPr wrap="square" lIns="0" tIns="0" rIns="0" bIns="0" rtlCol="0" anchor="t"/>
          <a:lstStyle/>
          <a:p>
            <a:pPr indent="0" marL="0">
              <a:buNone/>
            </a:pPr>
            <a:r>
              <a:rPr lang="en-US" sz="1600" b="1" dirty="0">
                <a:solidFill>
                  <a:schemeClr val="tx2"/>
                </a:solidFill>
              </a:rPr>
              <a:t>Một Điều là một chunk</a:t>
            </a:r>
            <a:endParaRPr lang="en-US" sz="1600" dirty="0"/>
          </a:p>
        </p:txBody>
      </p:sp>
      <p:sp>
        <p:nvSpPr>
          <p:cNvPr id="6" name="Text 4"/>
          <p:cNvSpPr txBox="1"/>
          <p:nvPr/>
        </p:nvSpPr>
        <p:spPr>
          <a:xfrm>
            <a:off x="1097280" y="1472184"/>
            <a:ext cx="4206240" cy="502920"/>
          </a:xfrm>
          <a:prstGeom prst="rect">
            <a:avLst/>
          </a:prstGeom>
          <a:noFill/>
          <a:ln/>
        </p:spPr>
        <p:txBody>
          <a:bodyPr wrap="square" lIns="0" tIns="0" rIns="0" bIns="0" rtlCol="0" anchor="t"/>
          <a:lstStyle/>
          <a:p>
            <a:pPr indent="0" marL="0">
              <a:buNone/>
            </a:pPr>
            <a:r>
              <a:rPr lang="en-US" sz="1200" dirty="0">
                <a:solidFill>
                  <a:schemeClr val="accent3"/>
                </a:solidFill>
              </a:rPr>
              <a:t>Điều dài bị cắt theo khoản thành nhiều phần :p1, :p2…; các phần dùng chung mapc và content_hash.</a:t>
            </a:r>
            <a:endParaRPr lang="en-US" sz="1200" dirty="0"/>
          </a:p>
        </p:txBody>
      </p:sp>
      <p:sp>
        <p:nvSpPr>
          <p:cNvPr id="7" name="rule-2"/>
          <p:cNvSpPr/>
          <p:nvPr/>
        </p:nvSpPr>
        <p:spPr>
          <a:xfrm>
            <a:off x="457200" y="2057400"/>
            <a:ext cx="457200" cy="457200"/>
          </a:xfrm>
          <a:prstGeom prst="ellipse">
            <a:avLst/>
          </a:prstGeom>
          <a:solidFill>
            <a:srgbClr val="8E2C24"/>
          </a:solidFill>
          <a:ln/>
        </p:spPr>
      </p:sp>
      <p:sp>
        <p:nvSpPr>
          <p:cNvPr id="8" name="rule-2-label"/>
          <p:cNvSpPr txBox="1"/>
          <p:nvPr/>
        </p:nvSpPr>
        <p:spPr>
          <a:xfrm>
            <a:off x="457200" y="2057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097280" y="2011680"/>
            <a:ext cx="4206240" cy="320040"/>
          </a:xfrm>
          <a:prstGeom prst="rect">
            <a:avLst/>
          </a:prstGeom>
          <a:noFill/>
          <a:ln/>
        </p:spPr>
        <p:txBody>
          <a:bodyPr wrap="square" lIns="0" tIns="0" rIns="0" bIns="0" rtlCol="0" anchor="t"/>
          <a:lstStyle/>
          <a:p>
            <a:pPr indent="0" marL="0">
              <a:buNone/>
            </a:pPr>
            <a:r>
              <a:rPr lang="en-US" sz="1600" b="1" dirty="0">
                <a:solidFill>
                  <a:schemeClr val="tx2"/>
                </a:solidFill>
              </a:rPr>
              <a:t>Định danh là (document_id, meta_dieu)</a:t>
            </a:r>
            <a:endParaRPr lang="en-US" sz="1600" dirty="0"/>
          </a:p>
        </p:txBody>
      </p:sp>
      <p:sp>
        <p:nvSpPr>
          <p:cNvPr id="10" name="Text 8"/>
          <p:cNvSpPr txBox="1"/>
          <p:nvPr/>
        </p:nvSpPr>
        <p:spPr>
          <a:xfrm>
            <a:off x="1097280" y="2340864"/>
            <a:ext cx="4206240" cy="502920"/>
          </a:xfrm>
          <a:prstGeom prst="rect">
            <a:avLst/>
          </a:prstGeom>
          <a:noFill/>
          <a:ln/>
        </p:spPr>
        <p:txBody>
          <a:bodyPr wrap="square" lIns="0" tIns="0" rIns="0" bIns="0" rtlCol="0" anchor="t"/>
          <a:lstStyle/>
          <a:p>
            <a:pPr indent="0" marL="0">
              <a:buNone/>
            </a:pPr>
            <a:r>
              <a:rPr lang="en-US" sz="1200" dirty="0">
                <a:solidFill>
                  <a:schemeClr val="accent3"/>
                </a:solidFill>
              </a:rPr>
              <a:t>Số hiệu văn bản + số Điều là định danh pháp lý gốc, giống nhau ở cả Pháp điển và PDF.</a:t>
            </a:r>
            <a:endParaRPr lang="en-US" sz="1200" dirty="0"/>
          </a:p>
        </p:txBody>
      </p:sp>
      <p:sp>
        <p:nvSpPr>
          <p:cNvPr id="11" name="rule-3"/>
          <p:cNvSpPr/>
          <p:nvPr/>
        </p:nvSpPr>
        <p:spPr>
          <a:xfrm>
            <a:off x="457200" y="2926080"/>
            <a:ext cx="457200" cy="457200"/>
          </a:xfrm>
          <a:prstGeom prst="ellipse">
            <a:avLst/>
          </a:prstGeom>
          <a:solidFill>
            <a:srgbClr val="8E2C24"/>
          </a:solidFill>
          <a:ln/>
        </p:spPr>
      </p:sp>
      <p:sp>
        <p:nvSpPr>
          <p:cNvPr id="12" name="rule-3-label"/>
          <p:cNvSpPr txBox="1"/>
          <p:nvPr/>
        </p:nvSpPr>
        <p:spPr>
          <a:xfrm>
            <a:off x="457200" y="2926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097280" y="2880360"/>
            <a:ext cx="4206240" cy="320040"/>
          </a:xfrm>
          <a:prstGeom prst="rect">
            <a:avLst/>
          </a:prstGeom>
          <a:noFill/>
          <a:ln/>
        </p:spPr>
        <p:txBody>
          <a:bodyPr wrap="square" lIns="0" tIns="0" rIns="0" bIns="0" rtlCol="0" anchor="t"/>
          <a:lstStyle/>
          <a:p>
            <a:pPr indent="0" marL="0">
              <a:buNone/>
            </a:pPr>
            <a:r>
              <a:rPr lang="en-US" sz="1600" b="1" dirty="0">
                <a:solidFill>
                  <a:schemeClr val="tx2"/>
                </a:solidFill>
              </a:rPr>
              <a:t>Không so khớp theo chương hay mapc</a:t>
            </a:r>
            <a:endParaRPr lang="en-US" sz="1600" dirty="0"/>
          </a:p>
        </p:txBody>
      </p:sp>
      <p:sp>
        <p:nvSpPr>
          <p:cNvPr id="14" name="Text 12"/>
          <p:cNvSpPr txBox="1"/>
          <p:nvPr/>
        </p:nvSpPr>
        <p:spPr>
          <a:xfrm>
            <a:off x="1097280" y="3209544"/>
            <a:ext cx="4206240" cy="502920"/>
          </a:xfrm>
          <a:prstGeom prst="rect">
            <a:avLst/>
          </a:prstGeom>
          <a:noFill/>
          <a:ln/>
        </p:spPr>
        <p:txBody>
          <a:bodyPr wrap="square" lIns="0" tIns="0" rIns="0" bIns="0" rtlCol="0" anchor="t"/>
          <a:lstStyle/>
          <a:p>
            <a:pPr indent="0" marL="0">
              <a:buNone/>
            </a:pPr>
            <a:r>
              <a:rPr lang="en-US" sz="1200" dirty="0">
                <a:solidFill>
                  <a:schemeClr val="accent3"/>
                </a:solidFill>
              </a:rPr>
              <a:t>Chương Pháp điển khác chương văn bản gốc; PDF của văn bản mới không có mapc.</a:t>
            </a:r>
            <a:endParaRPr lang="en-US" sz="1200" dirty="0"/>
          </a:p>
        </p:txBody>
      </p:sp>
      <p:sp>
        <p:nvSpPr>
          <p:cNvPr id="15" name="chunkid-card"/>
          <p:cNvSpPr/>
          <p:nvPr/>
        </p:nvSpPr>
        <p:spPr>
          <a:xfrm>
            <a:off x="5669280" y="1143000"/>
            <a:ext cx="3017520" cy="2514600"/>
          </a:xfrm>
          <a:prstGeom prst="roundRect">
            <a:avLst>
              <a:gd name="adj" fmla="val 2909"/>
            </a:avLst>
          </a:prstGeom>
          <a:solidFill>
            <a:srgbClr val="F4EDEB"/>
          </a:solidFill>
          <a:ln/>
          <a:effectLst>
            <a:outerShdw sx="100000" sy="100000" kx="0" ky="0" algn="bl" rotWithShape="0" blurRad="76200" dist="25400" dir="5400000">
              <a:srgbClr val="000000">
                <a:alpha val="12000"/>
              </a:srgbClr>
            </a:outerShdw>
          </a:effectLst>
        </p:spPr>
      </p:sp>
      <p:sp>
        <p:nvSpPr>
          <p:cNvPr id="16" name="Text 14"/>
          <p:cNvSpPr txBox="1"/>
          <p:nvPr/>
        </p:nvSpPr>
        <p:spPr>
          <a:xfrm>
            <a:off x="5852160" y="1280160"/>
            <a:ext cx="2651760" cy="320040"/>
          </a:xfrm>
          <a:prstGeom prst="rect">
            <a:avLst/>
          </a:prstGeom>
          <a:noFill/>
          <a:ln/>
        </p:spPr>
        <p:txBody>
          <a:bodyPr wrap="square" lIns="0" tIns="0" rIns="0" bIns="0" rtlCol="0" anchor="t"/>
          <a:lstStyle/>
          <a:p>
            <a:pPr indent="0" marL="0">
              <a:buNone/>
            </a:pPr>
            <a:r>
              <a:rPr lang="en-US" sz="1400" b="1" dirty="0">
                <a:solidFill>
                  <a:schemeClr val="tx2"/>
                </a:solidFill>
              </a:rPr>
              <a:t>Cấu tạo chunk_id</a:t>
            </a:r>
            <a:endParaRPr lang="en-US" sz="1400" dirty="0"/>
          </a:p>
        </p:txBody>
      </p:sp>
      <p:sp>
        <p:nvSpPr>
          <p:cNvPr id="17" name="Text 15"/>
          <p:cNvSpPr txBox="1"/>
          <p:nvPr/>
        </p:nvSpPr>
        <p:spPr>
          <a:xfrm>
            <a:off x="5852160" y="1691640"/>
            <a:ext cx="2651760" cy="365760"/>
          </a:xfrm>
          <a:prstGeom prst="rect">
            <a:avLst/>
          </a:prstGeom>
          <a:noFill/>
          <a:ln/>
        </p:spPr>
        <p:txBody>
          <a:bodyPr wrap="square" lIns="0" tIns="0" rIns="0" bIns="0" rtlCol="0" anchor="t"/>
          <a:lstStyle/>
          <a:p>
            <a:pPr indent="0" marL="0">
              <a:buNone/>
            </a:pPr>
            <a:r>
              <a:rPr lang="en-US" sz="1600" b="1" dirty="0">
                <a:solidFill>
                  <a:srgbClr val="8E2C24"/>
                </a:solidFill>
                <a:latin typeface="Courier New" pitchFamily="34" charset="0"/>
                <a:ea typeface="Courier New" pitchFamily="34" charset="-122"/>
                <a:cs typeface="Courier New" pitchFamily="34" charset="-120"/>
              </a:rPr>
              <a:t>45-2019-qh14</a:t>
            </a:r>
            <a:pPr indent="0" marL="0">
              <a:buNone/>
            </a:pPr>
            <a:r>
              <a:rPr lang="en-US" sz="1600" b="1" dirty="0">
                <a:solidFill>
                  <a:srgbClr val="2E6B5E"/>
                </a:solidFill>
                <a:latin typeface="Courier New" pitchFamily="34" charset="0"/>
                <a:ea typeface="Courier New" pitchFamily="34" charset="-122"/>
                <a:cs typeface="Courier New" pitchFamily="34" charset="-120"/>
              </a:rPr>
              <a:t>:d35</a:t>
            </a:r>
            <a:pPr indent="0" marL="0">
              <a:buNone/>
            </a:pPr>
            <a:r>
              <a:rPr lang="en-US" sz="1600" b="1" dirty="0">
                <a:solidFill>
                  <a:srgbClr val="9A6B12"/>
                </a:solidFill>
                <a:latin typeface="Courier New" pitchFamily="34" charset="0"/>
                <a:ea typeface="Courier New" pitchFamily="34" charset="-122"/>
                <a:cs typeface="Courier New" pitchFamily="34" charset="-120"/>
              </a:rPr>
              <a:t>:p2</a:t>
            </a:r>
            <a:endParaRPr lang="en-US" sz="1600" dirty="0"/>
          </a:p>
        </p:txBody>
      </p:sp>
      <p:sp>
        <p:nvSpPr>
          <p:cNvPr id="18" name="Text 16"/>
          <p:cNvSpPr txBox="1"/>
          <p:nvPr/>
        </p:nvSpPr>
        <p:spPr>
          <a:xfrm>
            <a:off x="5852160" y="2194560"/>
            <a:ext cx="2697480" cy="1280160"/>
          </a:xfrm>
          <a:prstGeom prst="rect">
            <a:avLst/>
          </a:prstGeom>
          <a:noFill/>
          <a:ln/>
        </p:spPr>
        <p:txBody>
          <a:bodyPr wrap="square" lIns="0" tIns="0" rIns="0" bIns="0" rtlCol="0" anchor="t"/>
          <a:lstStyle/>
          <a:p>
            <a:pPr indent="0" marL="0">
              <a:spcAft>
                <a:spcPts val="600"/>
              </a:spcAft>
              <a:buNone/>
            </a:pPr>
            <a:r>
              <a:rPr lang="en-US" sz="1200" b="1" dirty="0">
                <a:solidFill>
                  <a:srgbClr val="8E2C24"/>
                </a:solidFill>
              </a:rPr>
              <a:t>document_id</a:t>
            </a:r>
            <a:pPr indent="0" marL="0">
              <a:spcAft>
                <a:spcPts val="600"/>
              </a:spcAft>
              <a:buNone/>
            </a:pPr>
            <a:r>
              <a:rPr lang="en-US" sz="1200" dirty="0">
                <a:solidFill>
                  <a:schemeClr val="tx1"/>
                </a:solidFill>
              </a:rPr>
              <a:t>: số hiệu 45/2019/QH14 đã chuẩn hóa</a:t>
            </a:r>
            <a:endParaRPr lang="en-US" sz="1200" dirty="0"/>
          </a:p>
          <a:p>
            <a:pPr indent="0" marL="0">
              <a:spcAft>
                <a:spcPts val="600"/>
              </a:spcAft>
              <a:buNone/>
            </a:pPr>
            <a:r>
              <a:rPr lang="en-US" sz="1200" b="1" dirty="0">
                <a:solidFill>
                  <a:srgbClr val="2E6B5E"/>
                </a:solidFill>
              </a:rPr>
              <a:t>d35</a:t>
            </a:r>
            <a:pPr indent="0" marL="0">
              <a:spcAft>
                <a:spcPts val="600"/>
              </a:spcAft>
              <a:buNone/>
            </a:pPr>
            <a:r>
              <a:rPr lang="en-US" sz="1200" dirty="0">
                <a:solidFill>
                  <a:schemeClr val="tx1"/>
                </a:solidFill>
              </a:rPr>
              <a:t>: Điều 35</a:t>
            </a:r>
            <a:endParaRPr lang="en-US" sz="1200" dirty="0"/>
          </a:p>
          <a:p>
            <a:pPr indent="0" marL="0">
              <a:spcAft>
                <a:spcPts val="600"/>
              </a:spcAft>
              <a:buNone/>
            </a:pPr>
            <a:r>
              <a:rPr lang="en-US" sz="1200" b="1" dirty="0">
                <a:solidFill>
                  <a:srgbClr val="9A6B12"/>
                </a:solidFill>
              </a:rPr>
              <a:t>p2</a:t>
            </a:r>
            <a:pPr indent="0" marL="0">
              <a:spcAft>
                <a:spcPts val="600"/>
              </a:spcAft>
              <a:buNone/>
            </a:pPr>
            <a:r>
              <a:rPr lang="en-US" sz="1200" dirty="0">
                <a:solidFill>
                  <a:schemeClr val="tx1"/>
                </a:solidFill>
              </a:rPr>
              <a:t>: phần thứ 2 khi Điều bị cắt</a:t>
            </a:r>
            <a:endParaRPr lang="en-US" sz="1200" dirty="0"/>
          </a:p>
        </p:txBody>
      </p:sp>
      <p:sp>
        <p:nvSpPr>
          <p:cNvPr id="19" name="Text 17"/>
          <p:cNvSpPr txBox="1"/>
          <p:nvPr/>
        </p:nvSpPr>
        <p:spPr>
          <a:xfrm>
            <a:off x="457200" y="3840480"/>
            <a:ext cx="2651760" cy="548640"/>
          </a:xfrm>
          <a:prstGeom prst="rect">
            <a:avLst/>
          </a:prstGeom>
          <a:noFill/>
          <a:ln/>
        </p:spPr>
        <p:txBody>
          <a:bodyPr wrap="square" lIns="0" tIns="0" rIns="0" bIns="0" rtlCol="0" anchor="ctr"/>
          <a:lstStyle/>
          <a:p>
            <a:pPr indent="0" marL="0">
              <a:buNone/>
            </a:pPr>
            <a:r>
              <a:rPr lang="en-US" sz="3000" b="1" dirty="0">
                <a:solidFill>
                  <a:srgbClr val="8E2C24"/>
                </a:solidFill>
                <a:latin typeface="Cambria" pitchFamily="34" charset="0"/>
                <a:ea typeface="Cambria" pitchFamily="34" charset="-122"/>
                <a:cs typeface="Cambria" pitchFamily="34" charset="-120"/>
              </a:rPr>
              <a:t>1.481  </a:t>
            </a:r>
            <a:pPr indent="0" marL="0">
              <a:buNone/>
            </a:pPr>
            <a:r>
              <a:rPr lang="en-US" sz="1400" dirty="0">
                <a:solidFill>
                  <a:srgbClr val="4A5A6A"/>
                </a:solidFill>
              </a:rPr>
              <a:t>chunk</a:t>
            </a:r>
            <a:endParaRPr lang="en-US" sz="1400" dirty="0"/>
          </a:p>
        </p:txBody>
      </p:sp>
      <p:sp>
        <p:nvSpPr>
          <p:cNvPr id="20" name="Text 18"/>
          <p:cNvSpPr txBox="1"/>
          <p:nvPr/>
        </p:nvSpPr>
        <p:spPr>
          <a:xfrm>
            <a:off x="3246120" y="3840480"/>
            <a:ext cx="2651760" cy="548640"/>
          </a:xfrm>
          <a:prstGeom prst="rect">
            <a:avLst/>
          </a:prstGeom>
          <a:noFill/>
          <a:ln/>
        </p:spPr>
        <p:txBody>
          <a:bodyPr wrap="square" lIns="0" tIns="0" rIns="0" bIns="0" rtlCol="0" anchor="ctr"/>
          <a:lstStyle/>
          <a:p>
            <a:pPr indent="0" marL="0">
              <a:buNone/>
            </a:pPr>
            <a:r>
              <a:rPr lang="en-US" sz="3000" b="1" dirty="0">
                <a:solidFill>
                  <a:srgbClr val="8E2C24"/>
                </a:solidFill>
                <a:latin typeface="Cambria" pitchFamily="34" charset="0"/>
                <a:ea typeface="Cambria" pitchFamily="34" charset="-122"/>
                <a:cs typeface="Cambria" pitchFamily="34" charset="-120"/>
              </a:rPr>
              <a:t>153  </a:t>
            </a:r>
            <a:pPr indent="0" marL="0">
              <a:buNone/>
            </a:pPr>
            <a:r>
              <a:rPr lang="en-US" sz="1400" dirty="0">
                <a:solidFill>
                  <a:srgbClr val="4A5A6A"/>
                </a:solidFill>
              </a:rPr>
              <a:t>văn bản</a:t>
            </a:r>
            <a:endParaRPr lang="en-US" sz="1400" dirty="0"/>
          </a:p>
        </p:txBody>
      </p:sp>
      <p:sp>
        <p:nvSpPr>
          <p:cNvPr id="21" name="Text 19"/>
          <p:cNvSpPr txBox="1"/>
          <p:nvPr/>
        </p:nvSpPr>
        <p:spPr>
          <a:xfrm>
            <a:off x="6035040" y="3840480"/>
            <a:ext cx="2651760" cy="548640"/>
          </a:xfrm>
          <a:prstGeom prst="rect">
            <a:avLst/>
          </a:prstGeom>
          <a:noFill/>
          <a:ln/>
        </p:spPr>
        <p:txBody>
          <a:bodyPr wrap="square" lIns="0" tIns="0" rIns="0" bIns="0" rtlCol="0" anchor="ctr"/>
          <a:lstStyle/>
          <a:p>
            <a:pPr indent="0" marL="0">
              <a:buNone/>
            </a:pPr>
            <a:r>
              <a:rPr lang="en-US" sz="3000" b="1" dirty="0">
                <a:solidFill>
                  <a:srgbClr val="8E2C24"/>
                </a:solidFill>
                <a:latin typeface="Cambria" pitchFamily="34" charset="0"/>
                <a:ea typeface="Cambria" pitchFamily="34" charset="-122"/>
                <a:cs typeface="Cambria" pitchFamily="34" charset="-120"/>
              </a:rPr>
              <a:t>112  </a:t>
            </a:r>
            <a:pPr indent="0" marL="0">
              <a:buNone/>
            </a:pPr>
            <a:r>
              <a:rPr lang="en-US" sz="1400" dirty="0">
                <a:solidFill>
                  <a:srgbClr val="4A5A6A"/>
                </a:solidFill>
              </a:rPr>
              <a:t>chunk là phần cắt</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Một dòng JSONL là một chunk</a:t>
            </a:r>
            <a:endParaRPr lang="en-US" sz="2800" dirty="0"/>
          </a:p>
        </p:txBody>
      </p:sp>
      <p:sp>
        <p:nvSpPr>
          <p:cNvPr id="3" name="code-card"/>
          <p:cNvSpPr/>
          <p:nvPr/>
        </p:nvSpPr>
        <p:spPr>
          <a:xfrm>
            <a:off x="457200" y="1097280"/>
            <a:ext cx="5074920" cy="3520440"/>
          </a:xfrm>
          <a:prstGeom prst="roundRect">
            <a:avLst>
              <a:gd name="adj" fmla="val 2078"/>
            </a:avLst>
          </a:prstGeom>
          <a:solidFill>
            <a:srgbClr val="F4EDEB"/>
          </a:solidFill>
          <a:ln/>
          <a:effectLst>
            <a:outerShdw sx="100000" sy="100000" kx="0" ky="0" algn="bl" rotWithShape="0" blurRad="76200" dist="25400" dir="5400000">
              <a:srgbClr val="000000">
                <a:alpha val="12000"/>
              </a:srgbClr>
            </a:outerShdw>
          </a:effectLst>
        </p:spPr>
      </p:sp>
      <p:sp>
        <p:nvSpPr>
          <p:cNvPr id="4" name="Text 2"/>
          <p:cNvSpPr txBox="1"/>
          <p:nvPr/>
        </p:nvSpPr>
        <p:spPr>
          <a:xfrm>
            <a:off x="640080" y="1188720"/>
            <a:ext cx="4800600" cy="3337560"/>
          </a:xfrm>
          <a:prstGeom prst="rect">
            <a:avLst/>
          </a:prstGeom>
          <a:noFill/>
          <a:ln/>
        </p:spPr>
        <p:txBody>
          <a:bodyPr wrap="square" lIns="0" tIns="0" rIns="0" bIns="0" rtlCol="0" anchor="ctr"/>
          <a:lstStyle/>
          <a:p>
            <a:pPr indent="0" marL="0">
              <a:lnSpc>
                <a:spcPct val="100000"/>
              </a:lnSpc>
              <a:buNone/>
            </a:pPr>
            <a:r>
              <a:rPr lang="en-US" sz="1000" dirty="0">
                <a:solidFill>
                  <a:srgbClr val="222222"/>
                </a:solidFill>
                <a:latin typeface="Courier New" pitchFamily="34" charset="0"/>
                <a:ea typeface="Courier New" pitchFamily="34" charset="-122"/>
                <a:cs typeface="Courier New" pitchFamily="34" charset="-120"/>
              </a:rPr>
              <a:t>{</a:t>
            </a:r>
            <a:endParaRPr lang="en-US" sz="1000" dirty="0"/>
          </a:p>
          <a:p>
            <a:pPr indent="0" marL="0">
              <a:lnSpc>
                <a:spcPct val="100000"/>
              </a:lnSpc>
              <a:buNone/>
            </a:pPr>
            <a:r>
              <a:rPr lang="en-US" sz="1000" dirty="0">
                <a:solidFill>
                  <a:srgbClr val="8E2C24"/>
                </a:solidFill>
                <a:latin typeface="Courier New" pitchFamily="34" charset="0"/>
                <a:ea typeface="Courier New" pitchFamily="34" charset="-122"/>
                <a:cs typeface="Courier New" pitchFamily="34" charset="-120"/>
              </a:rPr>
              <a:t>  "chunk_id": "45-2019-qh14:d1",</a:t>
            </a:r>
            <a:endParaRPr lang="en-US" sz="1000" dirty="0"/>
          </a:p>
          <a:p>
            <a:pPr indent="0" marL="0">
              <a:lnSpc>
                <a:spcPct val="100000"/>
              </a:lnSpc>
              <a:buNone/>
            </a:pPr>
            <a:r>
              <a:rPr lang="en-US" sz="1000" dirty="0">
                <a:solidFill>
                  <a:srgbClr val="8E2C24"/>
                </a:solidFill>
                <a:latin typeface="Courier New" pitchFamily="34" charset="0"/>
                <a:ea typeface="Courier New" pitchFamily="34" charset="-122"/>
                <a:cs typeface="Courier New" pitchFamily="34" charset="-120"/>
              </a:rPr>
              <a:t>  "document_id": "45-2019-qh14",</a:t>
            </a:r>
            <a:endParaRPr lang="en-US" sz="1000" dirty="0"/>
          </a:p>
          <a:p>
            <a:pPr indent="0" marL="0">
              <a:lnSpc>
                <a:spcPct val="100000"/>
              </a:lnSpc>
              <a:buNone/>
            </a:pPr>
            <a:r>
              <a:rPr lang="en-US" sz="1000" dirty="0">
                <a:solidFill>
                  <a:srgbClr val="8E2C24"/>
                </a:solidFill>
                <a:latin typeface="Courier New" pitchFamily="34" charset="0"/>
                <a:ea typeface="Courier New" pitchFamily="34" charset="-122"/>
                <a:cs typeface="Courier New" pitchFamily="34" charset="-120"/>
              </a:rPr>
              <a:t>  "mapc": "20.2.LQ.1",  "source": "phap_dien",</a:t>
            </a:r>
            <a:endParaRPr lang="en-US" sz="1000" dirty="0"/>
          </a:p>
          <a:p>
            <a:pPr indent="0" marL="0">
              <a:lnSpc>
                <a:spcPct val="100000"/>
              </a:lnSpc>
              <a:buNone/>
            </a:pPr>
            <a:r>
              <a:rPr lang="en-US" sz="1000" dirty="0">
                <a:solidFill>
                  <a:srgbClr val="4A5A6A"/>
                </a:solidFill>
                <a:latin typeface="Courier New" pitchFamily="34" charset="0"/>
                <a:ea typeface="Courier New" pitchFamily="34" charset="-122"/>
                <a:cs typeface="Courier New" pitchFamily="34" charset="-120"/>
              </a:rPr>
              <a:t>  "ten": "Phạm vi điều chỉnh",</a:t>
            </a:r>
            <a:endParaRPr lang="en-US" sz="1000" dirty="0"/>
          </a:p>
          <a:p>
            <a:pPr indent="0" marL="0">
              <a:lnSpc>
                <a:spcPct val="100000"/>
              </a:lnSpc>
              <a:buNone/>
            </a:pPr>
            <a:r>
              <a:rPr lang="en-US" sz="1000" dirty="0">
                <a:solidFill>
                  <a:srgbClr val="4A5A6A"/>
                </a:solidFill>
                <a:latin typeface="Courier New" pitchFamily="34" charset="0"/>
                <a:ea typeface="Courier New" pitchFamily="34" charset="-122"/>
                <a:cs typeface="Courier New" pitchFamily="34" charset="-120"/>
              </a:rPr>
              <a:t>  "text": "Lao động &gt; Bộ luật số 45/2019/QH14 &gt; …</a:t>
            </a:r>
            <a:endParaRPr lang="en-US" sz="1000" dirty="0"/>
          </a:p>
          <a:p>
            <a:pPr indent="0" marL="0">
              <a:lnSpc>
                <a:spcPct val="100000"/>
              </a:lnSpc>
              <a:buNone/>
            </a:pPr>
            <a:r>
              <a:rPr lang="en-US" sz="1000" dirty="0">
                <a:solidFill>
                  <a:srgbClr val="4A5A6A"/>
                </a:solidFill>
                <a:latin typeface="Courier New" pitchFamily="34" charset="0"/>
                <a:ea typeface="Courier New" pitchFamily="34" charset="-122"/>
                <a:cs typeface="Courier New" pitchFamily="34" charset="-120"/>
              </a:rPr>
              <a:t>           Điều 1. Phạm vi điều chỉnh …",</a:t>
            </a:r>
            <a:endParaRPr lang="en-US" sz="1000" dirty="0"/>
          </a:p>
          <a:p>
            <a:pPr indent="0" marL="0">
              <a:lnSpc>
                <a:spcPct val="100000"/>
              </a:lnSpc>
              <a:buNone/>
            </a:pPr>
            <a:r>
              <a:rPr lang="en-US" sz="1000" dirty="0">
                <a:solidFill>
                  <a:srgbClr val="9A6B12"/>
                </a:solidFill>
                <a:latin typeface="Courier New" pitchFamily="34" charset="0"/>
                <a:ea typeface="Courier New" pitchFamily="34" charset="-122"/>
                <a:cs typeface="Courier New" pitchFamily="34" charset="-120"/>
              </a:rPr>
              <a:t>  "meta_de_muc": "Bộ luật số 45/2019/QH14",</a:t>
            </a:r>
            <a:endParaRPr lang="en-US" sz="1000" dirty="0"/>
          </a:p>
          <a:p>
            <a:pPr indent="0" marL="0">
              <a:lnSpc>
                <a:spcPct val="100000"/>
              </a:lnSpc>
              <a:buNone/>
            </a:pPr>
            <a:r>
              <a:rPr lang="en-US" sz="1000" dirty="0">
                <a:solidFill>
                  <a:srgbClr val="9A6B12"/>
                </a:solidFill>
                <a:latin typeface="Courier New" pitchFamily="34" charset="0"/>
                <a:ea typeface="Courier New" pitchFamily="34" charset="-122"/>
                <a:cs typeface="Courier New" pitchFamily="34" charset="-120"/>
              </a:rPr>
              <a:t>  "meta_chuong": null,  "meta_muc": null,</a:t>
            </a:r>
            <a:endParaRPr lang="en-US" sz="1000" dirty="0"/>
          </a:p>
          <a:p>
            <a:pPr indent="0" marL="0">
              <a:lnSpc>
                <a:spcPct val="100000"/>
              </a:lnSpc>
              <a:buNone/>
            </a:pPr>
            <a:r>
              <a:rPr lang="en-US" sz="1000" dirty="0">
                <a:solidFill>
                  <a:srgbClr val="9A6B12"/>
                </a:solidFill>
                <a:latin typeface="Courier New" pitchFamily="34" charset="0"/>
                <a:ea typeface="Courier New" pitchFamily="34" charset="-122"/>
                <a:cs typeface="Courier New" pitchFamily="34" charset="-120"/>
              </a:rPr>
              <a:t>  "pd_chuong": "I",  "pd_muc": null,</a:t>
            </a:r>
            <a:endParaRPr lang="en-US" sz="1000" dirty="0"/>
          </a:p>
          <a:p>
            <a:pPr indent="0" marL="0">
              <a:lnSpc>
                <a:spcPct val="100000"/>
              </a:lnSpc>
              <a:buNone/>
            </a:pPr>
            <a:r>
              <a:rPr lang="en-US" sz="1000" dirty="0">
                <a:solidFill>
                  <a:srgbClr val="9A6B12"/>
                </a:solidFill>
                <a:latin typeface="Courier New" pitchFamily="34" charset="0"/>
                <a:ea typeface="Courier New" pitchFamily="34" charset="-122"/>
                <a:cs typeface="Courier New" pitchFamily="34" charset="-120"/>
              </a:rPr>
              <a:t>  "meta_dieu": "1",  "meta_khoan": null,</a:t>
            </a:r>
            <a:endParaRPr lang="en-US" sz="1000" dirty="0"/>
          </a:p>
          <a:p>
            <a:pPr indent="0" marL="0">
              <a:lnSpc>
                <a:spcPct val="100000"/>
              </a:lnSpc>
              <a:buNone/>
            </a:pPr>
            <a:r>
              <a:rPr lang="en-US" sz="1000" dirty="0">
                <a:solidFill>
                  <a:srgbClr val="2E6B5E"/>
                </a:solidFill>
                <a:latin typeface="Courier New" pitchFamily="34" charset="0"/>
                <a:ea typeface="Courier New" pitchFamily="34" charset="-122"/>
                <a:cs typeface="Courier New" pitchFamily="34" charset="-120"/>
              </a:rPr>
              <a:t>  "effective_from_date": "2021-01-01",</a:t>
            </a:r>
            <a:endParaRPr lang="en-US" sz="1000" dirty="0"/>
          </a:p>
          <a:p>
            <a:pPr indent="0" marL="0">
              <a:lnSpc>
                <a:spcPct val="100000"/>
              </a:lnSpc>
              <a:buNone/>
            </a:pPr>
            <a:r>
              <a:rPr lang="en-US" sz="1000" dirty="0">
                <a:solidFill>
                  <a:srgbClr val="2E6B5E"/>
                </a:solidFill>
                <a:latin typeface="Courier New" pitchFamily="34" charset="0"/>
                <a:ea typeface="Courier New" pitchFamily="34" charset="-122"/>
                <a:cs typeface="Courier New" pitchFamily="34" charset="-120"/>
              </a:rPr>
              <a:t>  "effective_to_date": null,</a:t>
            </a:r>
            <a:endParaRPr lang="en-US" sz="1000" dirty="0"/>
          </a:p>
          <a:p>
            <a:pPr indent="0" marL="0">
              <a:lnSpc>
                <a:spcPct val="100000"/>
              </a:lnSpc>
              <a:buNone/>
            </a:pPr>
            <a:r>
              <a:rPr lang="en-US" sz="1000" dirty="0">
                <a:solidFill>
                  <a:srgbClr val="2E6B5E"/>
                </a:solidFill>
                <a:latin typeface="Courier New" pitchFamily="34" charset="0"/>
                <a:ea typeface="Courier New" pitchFamily="34" charset="-122"/>
                <a:cs typeface="Courier New" pitchFamily="34" charset="-120"/>
              </a:rPr>
              <a:t>  "version_date": "2021-01-01",</a:t>
            </a:r>
            <a:endParaRPr lang="en-US" sz="1000" dirty="0"/>
          </a:p>
          <a:p>
            <a:pPr indent="0" marL="0">
              <a:lnSpc>
                <a:spcPct val="100000"/>
              </a:lnSpc>
              <a:buNone/>
            </a:pPr>
            <a:r>
              <a:rPr lang="en-US" sz="1000" dirty="0">
                <a:solidFill>
                  <a:srgbClr val="2E6B5E"/>
                </a:solidFill>
                <a:latin typeface="Courier New" pitchFamily="34" charset="0"/>
                <a:ea typeface="Courier New" pitchFamily="34" charset="-122"/>
                <a:cs typeface="Courier New" pitchFamily="34" charset="-120"/>
              </a:rPr>
              <a:t>  "still_valid": true,</a:t>
            </a:r>
            <a:endParaRPr lang="en-US" sz="1000" dirty="0"/>
          </a:p>
          <a:p>
            <a:pPr indent="0" marL="0">
              <a:lnSpc>
                <a:spcPct val="100000"/>
              </a:lnSpc>
              <a:buNone/>
            </a:pPr>
            <a:r>
              <a:rPr lang="en-US" sz="1000" dirty="0">
                <a:solidFill>
                  <a:srgbClr val="2E6B5E"/>
                </a:solidFill>
                <a:latin typeface="Courier New" pitchFamily="34" charset="0"/>
                <a:ea typeface="Courier New" pitchFamily="34" charset="-122"/>
                <a:cs typeface="Courier New" pitchFamily="34" charset="-120"/>
              </a:rPr>
              <a:t>  "content_hash": "1240a5ffdaf3c123",</a:t>
            </a:r>
            <a:endParaRPr lang="en-US" sz="1000" dirty="0"/>
          </a:p>
          <a:p>
            <a:pPr indent="0" marL="0">
              <a:lnSpc>
                <a:spcPct val="100000"/>
              </a:lnSpc>
              <a:buNone/>
            </a:pPr>
            <a:r>
              <a:rPr lang="en-US" sz="1000" dirty="0">
                <a:solidFill>
                  <a:srgbClr val="2E6B5E"/>
                </a:solidFill>
                <a:latin typeface="Courier New" pitchFamily="34" charset="0"/>
                <a:ea typeface="Courier New" pitchFamily="34" charset="-122"/>
                <a:cs typeface="Courier New" pitchFamily="34" charset="-120"/>
              </a:rPr>
              <a:t>  "amends": [],  "amended_by": []</a:t>
            </a:r>
            <a:endParaRPr lang="en-US" sz="1000" dirty="0"/>
          </a:p>
          <a:p>
            <a:pPr indent="0" marL="0">
              <a:lnSpc>
                <a:spcPct val="100000"/>
              </a:lnSpc>
              <a:buNone/>
            </a:pPr>
            <a:r>
              <a:rPr lang="en-US" sz="1000" dirty="0">
                <a:solidFill>
                  <a:srgbClr val="222222"/>
                </a:solidFill>
                <a:latin typeface="Courier New" pitchFamily="34" charset="0"/>
                <a:ea typeface="Courier New" pitchFamily="34" charset="-122"/>
                <a:cs typeface="Courier New" pitchFamily="34" charset="-120"/>
              </a:rPr>
              <a:t>}</a:t>
            </a:r>
            <a:endParaRPr lang="en-US" sz="1000" dirty="0"/>
          </a:p>
        </p:txBody>
      </p:sp>
      <p:sp>
        <p:nvSpPr>
          <p:cNvPr id="5" name="dot-0"/>
          <p:cNvSpPr/>
          <p:nvPr/>
        </p:nvSpPr>
        <p:spPr>
          <a:xfrm>
            <a:off x="5852160" y="1216152"/>
            <a:ext cx="256032" cy="256032"/>
          </a:xfrm>
          <a:prstGeom prst="ellipse">
            <a:avLst/>
          </a:prstGeom>
          <a:solidFill>
            <a:srgbClr val="8E2C24"/>
          </a:solidFill>
          <a:ln/>
        </p:spPr>
      </p:sp>
      <p:sp>
        <p:nvSpPr>
          <p:cNvPr id="6" name="Text 4"/>
          <p:cNvSpPr txBox="1"/>
          <p:nvPr/>
        </p:nvSpPr>
        <p:spPr>
          <a:xfrm>
            <a:off x="6263640" y="1143000"/>
            <a:ext cx="2423160" cy="365760"/>
          </a:xfrm>
          <a:prstGeom prst="rect">
            <a:avLst/>
          </a:prstGeom>
          <a:noFill/>
          <a:ln/>
        </p:spPr>
        <p:txBody>
          <a:bodyPr wrap="square" lIns="0" tIns="0" rIns="0" bIns="0" rtlCol="0" anchor="ctr"/>
          <a:lstStyle/>
          <a:p>
            <a:pPr indent="0" marL="0">
              <a:buNone/>
            </a:pPr>
            <a:r>
              <a:rPr lang="en-US" sz="1500" b="1" dirty="0">
                <a:solidFill>
                  <a:srgbClr val="8E2C24"/>
                </a:solidFill>
              </a:rPr>
              <a:t>Định danh</a:t>
            </a:r>
            <a:endParaRPr lang="en-US" sz="1500" dirty="0"/>
          </a:p>
        </p:txBody>
      </p:sp>
      <p:sp>
        <p:nvSpPr>
          <p:cNvPr id="7" name="Text 5"/>
          <p:cNvSpPr txBox="1"/>
          <p:nvPr/>
        </p:nvSpPr>
        <p:spPr>
          <a:xfrm>
            <a:off x="6263640" y="1508760"/>
            <a:ext cx="2423160" cy="457200"/>
          </a:xfrm>
          <a:prstGeom prst="rect">
            <a:avLst/>
          </a:prstGeom>
          <a:noFill/>
          <a:ln/>
        </p:spPr>
        <p:txBody>
          <a:bodyPr wrap="square" lIns="0" tIns="0" rIns="0" bIns="0" rtlCol="0" anchor="t"/>
          <a:lstStyle/>
          <a:p>
            <a:pPr indent="0" marL="0">
              <a:buNone/>
            </a:pPr>
            <a:r>
              <a:rPr lang="en-US" sz="1200" dirty="0">
                <a:solidFill>
                  <a:schemeClr val="accent3"/>
                </a:solidFill>
              </a:rPr>
              <a:t>Khóa chính, văn bản, mã Pháp điển, nguồn</a:t>
            </a:r>
            <a:endParaRPr lang="en-US" sz="1200" dirty="0"/>
          </a:p>
        </p:txBody>
      </p:sp>
      <p:sp>
        <p:nvSpPr>
          <p:cNvPr id="8" name="dot-1"/>
          <p:cNvSpPr/>
          <p:nvPr/>
        </p:nvSpPr>
        <p:spPr>
          <a:xfrm>
            <a:off x="5852160" y="2084832"/>
            <a:ext cx="256032" cy="256032"/>
          </a:xfrm>
          <a:prstGeom prst="ellipse">
            <a:avLst/>
          </a:prstGeom>
          <a:solidFill>
            <a:srgbClr val="4A5A6A"/>
          </a:solidFill>
          <a:ln/>
        </p:spPr>
      </p:sp>
      <p:sp>
        <p:nvSpPr>
          <p:cNvPr id="9" name="Text 7"/>
          <p:cNvSpPr txBox="1"/>
          <p:nvPr/>
        </p:nvSpPr>
        <p:spPr>
          <a:xfrm>
            <a:off x="6263640" y="2011680"/>
            <a:ext cx="2423160" cy="365760"/>
          </a:xfrm>
          <a:prstGeom prst="rect">
            <a:avLst/>
          </a:prstGeom>
          <a:noFill/>
          <a:ln/>
        </p:spPr>
        <p:txBody>
          <a:bodyPr wrap="square" lIns="0" tIns="0" rIns="0" bIns="0" rtlCol="0" anchor="ctr"/>
          <a:lstStyle/>
          <a:p>
            <a:pPr indent="0" marL="0">
              <a:buNone/>
            </a:pPr>
            <a:r>
              <a:rPr lang="en-US" sz="1500" b="1" dirty="0">
                <a:solidFill>
                  <a:srgbClr val="4A5A6A"/>
                </a:solidFill>
              </a:rPr>
              <a:t>Nội dung</a:t>
            </a:r>
            <a:endParaRPr lang="en-US" sz="1500" dirty="0"/>
          </a:p>
        </p:txBody>
      </p:sp>
      <p:sp>
        <p:nvSpPr>
          <p:cNvPr id="10" name="Text 8"/>
          <p:cNvSpPr txBox="1"/>
          <p:nvPr/>
        </p:nvSpPr>
        <p:spPr>
          <a:xfrm>
            <a:off x="6263640" y="2377440"/>
            <a:ext cx="2423160" cy="457200"/>
          </a:xfrm>
          <a:prstGeom prst="rect">
            <a:avLst/>
          </a:prstGeom>
          <a:noFill/>
          <a:ln/>
        </p:spPr>
        <p:txBody>
          <a:bodyPr wrap="square" lIns="0" tIns="0" rIns="0" bIns="0" rtlCol="0" anchor="t"/>
          <a:lstStyle/>
          <a:p>
            <a:pPr indent="0" marL="0">
              <a:buNone/>
            </a:pPr>
            <a:r>
              <a:rPr lang="en-US" sz="1200" dirty="0">
                <a:solidFill>
                  <a:schemeClr val="accent3"/>
                </a:solidFill>
              </a:rPr>
              <a:t>Tên Điều; text đem đi embedding và đưa cho LLM</a:t>
            </a:r>
            <a:endParaRPr lang="en-US" sz="1200" dirty="0"/>
          </a:p>
        </p:txBody>
      </p:sp>
      <p:sp>
        <p:nvSpPr>
          <p:cNvPr id="11" name="dot-2"/>
          <p:cNvSpPr/>
          <p:nvPr/>
        </p:nvSpPr>
        <p:spPr>
          <a:xfrm>
            <a:off x="5852160" y="2953512"/>
            <a:ext cx="256032" cy="256032"/>
          </a:xfrm>
          <a:prstGeom prst="ellipse">
            <a:avLst/>
          </a:prstGeom>
          <a:solidFill>
            <a:srgbClr val="9A6B12"/>
          </a:solidFill>
          <a:ln/>
        </p:spPr>
      </p:sp>
      <p:sp>
        <p:nvSpPr>
          <p:cNvPr id="12" name="Text 10"/>
          <p:cNvSpPr txBox="1"/>
          <p:nvPr/>
        </p:nvSpPr>
        <p:spPr>
          <a:xfrm>
            <a:off x="6263640" y="2880360"/>
            <a:ext cx="2423160" cy="365760"/>
          </a:xfrm>
          <a:prstGeom prst="rect">
            <a:avLst/>
          </a:prstGeom>
          <a:noFill/>
          <a:ln/>
        </p:spPr>
        <p:txBody>
          <a:bodyPr wrap="square" lIns="0" tIns="0" rIns="0" bIns="0" rtlCol="0" anchor="ctr"/>
          <a:lstStyle/>
          <a:p>
            <a:pPr indent="0" marL="0">
              <a:buNone/>
            </a:pPr>
            <a:r>
              <a:rPr lang="en-US" sz="1500" b="1" dirty="0">
                <a:solidFill>
                  <a:srgbClr val="9A6B12"/>
                </a:solidFill>
              </a:rPr>
              <a:t>Vị trí, trích dẫn</a:t>
            </a:r>
            <a:endParaRPr lang="en-US" sz="1500" dirty="0"/>
          </a:p>
        </p:txBody>
      </p:sp>
      <p:sp>
        <p:nvSpPr>
          <p:cNvPr id="13" name="Text 11"/>
          <p:cNvSpPr txBox="1"/>
          <p:nvPr/>
        </p:nvSpPr>
        <p:spPr>
          <a:xfrm>
            <a:off x="6263640" y="3246120"/>
            <a:ext cx="2423160" cy="457200"/>
          </a:xfrm>
          <a:prstGeom prst="rect">
            <a:avLst/>
          </a:prstGeom>
          <a:noFill/>
          <a:ln/>
        </p:spPr>
        <p:txBody>
          <a:bodyPr wrap="square" lIns="0" tIns="0" rIns="0" bIns="0" rtlCol="0" anchor="t"/>
          <a:lstStyle/>
          <a:p>
            <a:pPr indent="0" marL="0">
              <a:buNone/>
            </a:pPr>
            <a:r>
              <a:rPr lang="en-US" sz="1200" dirty="0">
                <a:solidFill>
                  <a:schemeClr val="accent3"/>
                </a:solidFill>
              </a:rPr>
              <a:t>Văn bản, chương, mục, Điều, khoản</a:t>
            </a:r>
            <a:endParaRPr lang="en-US" sz="1200" dirty="0"/>
          </a:p>
        </p:txBody>
      </p:sp>
      <p:sp>
        <p:nvSpPr>
          <p:cNvPr id="14" name="dot-3"/>
          <p:cNvSpPr/>
          <p:nvPr/>
        </p:nvSpPr>
        <p:spPr>
          <a:xfrm>
            <a:off x="5852160" y="3822192"/>
            <a:ext cx="256032" cy="256032"/>
          </a:xfrm>
          <a:prstGeom prst="ellipse">
            <a:avLst/>
          </a:prstGeom>
          <a:solidFill>
            <a:srgbClr val="2E6B5E"/>
          </a:solidFill>
          <a:ln/>
        </p:spPr>
      </p:sp>
      <p:sp>
        <p:nvSpPr>
          <p:cNvPr id="15" name="Text 13"/>
          <p:cNvSpPr txBox="1"/>
          <p:nvPr/>
        </p:nvSpPr>
        <p:spPr>
          <a:xfrm>
            <a:off x="6263640" y="3749040"/>
            <a:ext cx="2423160" cy="365760"/>
          </a:xfrm>
          <a:prstGeom prst="rect">
            <a:avLst/>
          </a:prstGeom>
          <a:noFill/>
          <a:ln/>
        </p:spPr>
        <p:txBody>
          <a:bodyPr wrap="square" lIns="0" tIns="0" rIns="0" bIns="0" rtlCol="0" anchor="ctr"/>
          <a:lstStyle/>
          <a:p>
            <a:pPr indent="0" marL="0">
              <a:buNone/>
            </a:pPr>
            <a:r>
              <a:rPr lang="en-US" sz="1500" b="1" dirty="0">
                <a:solidFill>
                  <a:srgbClr val="2E6B5E"/>
                </a:solidFill>
              </a:rPr>
              <a:t>Hiệu lực, phiên bản</a:t>
            </a:r>
            <a:endParaRPr lang="en-US" sz="1500" dirty="0"/>
          </a:p>
        </p:txBody>
      </p:sp>
      <p:sp>
        <p:nvSpPr>
          <p:cNvPr id="16" name="Text 14"/>
          <p:cNvSpPr txBox="1"/>
          <p:nvPr/>
        </p:nvSpPr>
        <p:spPr>
          <a:xfrm>
            <a:off x="6263640" y="4114800"/>
            <a:ext cx="2423160" cy="457200"/>
          </a:xfrm>
          <a:prstGeom prst="rect">
            <a:avLst/>
          </a:prstGeom>
          <a:noFill/>
          <a:ln/>
        </p:spPr>
        <p:txBody>
          <a:bodyPr wrap="square" lIns="0" tIns="0" rIns="0" bIns="0" rtlCol="0" anchor="t"/>
          <a:lstStyle/>
          <a:p>
            <a:pPr indent="0" marL="0">
              <a:buNone/>
            </a:pPr>
            <a:r>
              <a:rPr lang="en-US" sz="1200" dirty="0">
                <a:solidFill>
                  <a:schemeClr val="accent3"/>
                </a:solidFill>
              </a:rPr>
              <a:t>Ngày hiệu lực, còn hiệu lực, hash, sửa đổi</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Mỗi nhóm trường phục vụ một bước</a:t>
            </a:r>
            <a:endParaRPr lang="en-US" sz="2800" dirty="0"/>
          </a:p>
        </p:txBody>
      </p:sp>
      <p:sp>
        <p:nvSpPr>
          <p:cNvPr id="3" name="quad-0"/>
          <p:cNvSpPr/>
          <p:nvPr/>
        </p:nvSpPr>
        <p:spPr>
          <a:xfrm>
            <a:off x="457200" y="1051560"/>
            <a:ext cx="4023360" cy="1527048"/>
          </a:xfrm>
          <a:prstGeom prst="roundRect">
            <a:avLst>
              <a:gd name="adj" fmla="val 4790"/>
            </a:avLst>
          </a:prstGeom>
          <a:solidFill>
            <a:srgbClr val="F4EDEB"/>
          </a:solidFill>
          <a:ln/>
          <a:effectLst>
            <a:outerShdw sx="100000" sy="100000" kx="0" ky="0" algn="bl" rotWithShape="0" blurRad="76200" dist="25400" dir="5400000">
              <a:srgbClr val="000000">
                <a:alpha val="12000"/>
              </a:srgbClr>
            </a:outerShdw>
          </a:effectLst>
        </p:spPr>
      </p:sp>
      <p:sp>
        <p:nvSpPr>
          <p:cNvPr id="4" name="quad-dot-0"/>
          <p:cNvSpPr/>
          <p:nvPr/>
        </p:nvSpPr>
        <p:spPr>
          <a:xfrm>
            <a:off x="640080" y="1234440"/>
            <a:ext cx="237744" cy="237744"/>
          </a:xfrm>
          <a:prstGeom prst="ellipse">
            <a:avLst/>
          </a:prstGeom>
          <a:solidFill>
            <a:srgbClr val="8E2C24"/>
          </a:solidFill>
          <a:ln/>
        </p:spPr>
      </p:sp>
      <p:sp>
        <p:nvSpPr>
          <p:cNvPr id="5" name="Text 3"/>
          <p:cNvSpPr txBox="1"/>
          <p:nvPr/>
        </p:nvSpPr>
        <p:spPr>
          <a:xfrm>
            <a:off x="1005840" y="1170432"/>
            <a:ext cx="3291840" cy="365760"/>
          </a:xfrm>
          <a:prstGeom prst="rect">
            <a:avLst/>
          </a:prstGeom>
          <a:noFill/>
          <a:ln/>
        </p:spPr>
        <p:txBody>
          <a:bodyPr wrap="square" lIns="0" tIns="0" rIns="0" bIns="0" rtlCol="0" anchor="ctr"/>
          <a:lstStyle/>
          <a:p>
            <a:pPr indent="0" marL="0">
              <a:buNone/>
            </a:pPr>
            <a:r>
              <a:rPr lang="en-US" sz="1500" b="1" dirty="0">
                <a:solidFill>
                  <a:srgbClr val="8E2C24"/>
                </a:solidFill>
              </a:rPr>
              <a:t>Định danh</a:t>
            </a:r>
            <a:endParaRPr lang="en-US" sz="1500" dirty="0"/>
          </a:p>
        </p:txBody>
      </p:sp>
      <p:sp>
        <p:nvSpPr>
          <p:cNvPr id="6" name="Text 4"/>
          <p:cNvSpPr txBox="1"/>
          <p:nvPr/>
        </p:nvSpPr>
        <p:spPr>
          <a:xfrm>
            <a:off x="685800" y="1600200"/>
            <a:ext cx="3611880" cy="1005840"/>
          </a:xfrm>
          <a:prstGeom prst="rect">
            <a:avLst/>
          </a:prstGeom>
          <a:noFill/>
          <a:ln/>
        </p:spPr>
        <p:txBody>
          <a:bodyPr wrap="square" lIns="0" tIns="0" rIns="0" bIns="0" rtlCol="0" anchor="t"/>
          <a:lstStyle/>
          <a:p>
            <a:pPr indent="0" marL="0">
              <a:spcAft>
                <a:spcPts val="400"/>
              </a:spcAft>
              <a:buNone/>
            </a:pPr>
            <a:r>
              <a:rPr lang="en-US" sz="1100" b="1" dirty="0">
                <a:solidFill>
                  <a:srgbClr val="222222"/>
                </a:solidFill>
                <a:latin typeface="Courier New" pitchFamily="34" charset="0"/>
                <a:ea typeface="Courier New" pitchFamily="34" charset="-122"/>
                <a:cs typeface="Courier New" pitchFamily="34" charset="-120"/>
              </a:rPr>
              <a:t>chunk_id</a:t>
            </a:r>
            <a:pPr indent="0" marL="0">
              <a:spcAft>
                <a:spcPts val="400"/>
              </a:spcAft>
              <a:buNone/>
            </a:pPr>
            <a:r>
              <a:rPr lang="en-US" sz="1200" dirty="0">
                <a:solidFill>
                  <a:srgbClr val="4A5A6A"/>
                </a:solidFill>
              </a:rPr>
              <a:t>: khóa chính, không trùng</a:t>
            </a:r>
            <a:endParaRPr lang="en-US" sz="1400" dirty="0"/>
          </a:p>
          <a:p>
            <a:pPr indent="0" marL="0">
              <a:spcAft>
                <a:spcPts val="400"/>
              </a:spcAft>
              <a:buNone/>
            </a:pPr>
            <a:r>
              <a:rPr lang="en-US" sz="1100" b="1" dirty="0">
                <a:solidFill>
                  <a:srgbClr val="222222"/>
                </a:solidFill>
                <a:latin typeface="Courier New" pitchFamily="34" charset="0"/>
                <a:ea typeface="Courier New" pitchFamily="34" charset="-122"/>
                <a:cs typeface="Courier New" pitchFamily="34" charset="-120"/>
              </a:rPr>
              <a:t>document_id</a:t>
            </a:r>
            <a:pPr indent="0" marL="0">
              <a:spcAft>
                <a:spcPts val="400"/>
              </a:spcAft>
              <a:buNone/>
            </a:pPr>
            <a:r>
              <a:rPr lang="en-US" sz="1200" dirty="0">
                <a:solidFill>
                  <a:srgbClr val="4A5A6A"/>
                </a:solidFill>
              </a:rPr>
              <a:t>: xóa, cập nhật, lọc theo văn bản</a:t>
            </a:r>
            <a:endParaRPr lang="en-US" sz="1400" dirty="0"/>
          </a:p>
          <a:p>
            <a:pPr indent="0" marL="0">
              <a:spcAft>
                <a:spcPts val="400"/>
              </a:spcAft>
              <a:buNone/>
            </a:pPr>
            <a:r>
              <a:rPr lang="en-US" sz="1100" b="1" dirty="0">
                <a:solidFill>
                  <a:srgbClr val="222222"/>
                </a:solidFill>
                <a:latin typeface="Courier New" pitchFamily="34" charset="0"/>
                <a:ea typeface="Courier New" pitchFamily="34" charset="-122"/>
                <a:cs typeface="Courier New" pitchFamily="34" charset="-120"/>
              </a:rPr>
              <a:t>mapc</a:t>
            </a:r>
            <a:pPr indent="0" marL="0">
              <a:spcAft>
                <a:spcPts val="400"/>
              </a:spcAft>
              <a:buNone/>
            </a:pPr>
            <a:r>
              <a:rPr lang="en-US" sz="1200" dirty="0">
                <a:solidFill>
                  <a:srgbClr val="4A5A6A"/>
                </a:solidFill>
              </a:rPr>
              <a:t>: nối sang Neo4j, nhãn gold của bộ test</a:t>
            </a:r>
            <a:endParaRPr lang="en-US" sz="1400" dirty="0"/>
          </a:p>
        </p:txBody>
      </p:sp>
      <p:sp>
        <p:nvSpPr>
          <p:cNvPr id="7" name="quad-1"/>
          <p:cNvSpPr/>
          <p:nvPr/>
        </p:nvSpPr>
        <p:spPr>
          <a:xfrm>
            <a:off x="4663440" y="1051560"/>
            <a:ext cx="4023360" cy="1527048"/>
          </a:xfrm>
          <a:prstGeom prst="roundRect">
            <a:avLst>
              <a:gd name="adj" fmla="val 4790"/>
            </a:avLst>
          </a:prstGeom>
          <a:solidFill>
            <a:srgbClr val="F4EDEB"/>
          </a:solidFill>
          <a:ln/>
          <a:effectLst>
            <a:outerShdw sx="100000" sy="100000" kx="0" ky="0" algn="bl" rotWithShape="0" blurRad="76200" dist="25400" dir="5400000">
              <a:srgbClr val="000000">
                <a:alpha val="12000"/>
              </a:srgbClr>
            </a:outerShdw>
          </a:effectLst>
        </p:spPr>
      </p:sp>
      <p:sp>
        <p:nvSpPr>
          <p:cNvPr id="8" name="quad-dot-1"/>
          <p:cNvSpPr/>
          <p:nvPr/>
        </p:nvSpPr>
        <p:spPr>
          <a:xfrm>
            <a:off x="4846320" y="1234440"/>
            <a:ext cx="237744" cy="237744"/>
          </a:xfrm>
          <a:prstGeom prst="ellipse">
            <a:avLst/>
          </a:prstGeom>
          <a:solidFill>
            <a:srgbClr val="4A5A6A"/>
          </a:solidFill>
          <a:ln/>
        </p:spPr>
      </p:sp>
      <p:sp>
        <p:nvSpPr>
          <p:cNvPr id="9" name="Text 7"/>
          <p:cNvSpPr txBox="1"/>
          <p:nvPr/>
        </p:nvSpPr>
        <p:spPr>
          <a:xfrm>
            <a:off x="5212080" y="1170432"/>
            <a:ext cx="3291840" cy="365760"/>
          </a:xfrm>
          <a:prstGeom prst="rect">
            <a:avLst/>
          </a:prstGeom>
          <a:noFill/>
          <a:ln/>
        </p:spPr>
        <p:txBody>
          <a:bodyPr wrap="square" lIns="0" tIns="0" rIns="0" bIns="0" rtlCol="0" anchor="ctr"/>
          <a:lstStyle/>
          <a:p>
            <a:pPr indent="0" marL="0">
              <a:buNone/>
            </a:pPr>
            <a:r>
              <a:rPr lang="en-US" sz="1500" b="1" dirty="0">
                <a:solidFill>
                  <a:srgbClr val="4A5A6A"/>
                </a:solidFill>
              </a:rPr>
              <a:t>Nội dung</a:t>
            </a:r>
            <a:endParaRPr lang="en-US" sz="1500" dirty="0"/>
          </a:p>
        </p:txBody>
      </p:sp>
      <p:sp>
        <p:nvSpPr>
          <p:cNvPr id="10" name="Text 8"/>
          <p:cNvSpPr txBox="1"/>
          <p:nvPr/>
        </p:nvSpPr>
        <p:spPr>
          <a:xfrm>
            <a:off x="4892040" y="1600200"/>
            <a:ext cx="3611880" cy="1005840"/>
          </a:xfrm>
          <a:prstGeom prst="rect">
            <a:avLst/>
          </a:prstGeom>
          <a:noFill/>
          <a:ln/>
        </p:spPr>
        <p:txBody>
          <a:bodyPr wrap="square" lIns="0" tIns="0" rIns="0" bIns="0" rtlCol="0" anchor="t"/>
          <a:lstStyle/>
          <a:p>
            <a:pPr indent="0" marL="0">
              <a:spcAft>
                <a:spcPts val="400"/>
              </a:spcAft>
              <a:buNone/>
            </a:pPr>
            <a:r>
              <a:rPr lang="en-US" sz="1100" b="1" dirty="0">
                <a:solidFill>
                  <a:srgbClr val="222222"/>
                </a:solidFill>
                <a:latin typeface="Courier New" pitchFamily="34" charset="0"/>
                <a:ea typeface="Courier New" pitchFamily="34" charset="-122"/>
                <a:cs typeface="Courier New" pitchFamily="34" charset="-120"/>
              </a:rPr>
              <a:t>ten</a:t>
            </a:r>
            <a:pPr indent="0" marL="0">
              <a:spcAft>
                <a:spcPts val="400"/>
              </a:spcAft>
              <a:buNone/>
            </a:pPr>
            <a:r>
              <a:rPr lang="en-US" sz="1200" dirty="0">
                <a:solidFill>
                  <a:srgbClr val="4A5A6A"/>
                </a:solidFill>
              </a:rPr>
              <a:t>: tên Điều, hiển thị và đưa cho LLM</a:t>
            </a:r>
            <a:endParaRPr lang="en-US" sz="1400" dirty="0"/>
          </a:p>
          <a:p>
            <a:pPr indent="0" marL="0">
              <a:spcAft>
                <a:spcPts val="400"/>
              </a:spcAft>
              <a:buNone/>
            </a:pPr>
            <a:r>
              <a:rPr lang="en-US" sz="1100" b="1" dirty="0">
                <a:solidFill>
                  <a:srgbClr val="222222"/>
                </a:solidFill>
                <a:latin typeface="Courier New" pitchFamily="34" charset="0"/>
                <a:ea typeface="Courier New" pitchFamily="34" charset="-122"/>
                <a:cs typeface="Courier New" pitchFamily="34" charset="-120"/>
              </a:rPr>
              <a:t>text</a:t>
            </a:r>
            <a:pPr indent="0" marL="0">
              <a:spcAft>
                <a:spcPts val="400"/>
              </a:spcAft>
              <a:buNone/>
            </a:pPr>
            <a:r>
              <a:rPr lang="en-US" sz="1200" dirty="0">
                <a:solidFill>
                  <a:srgbClr val="4A5A6A"/>
                </a:solidFill>
              </a:rPr>
              <a:t>: đường dẫn đề mục + Điều, dùng để embedding</a:t>
            </a:r>
            <a:endParaRPr lang="en-US" sz="1400" dirty="0"/>
          </a:p>
        </p:txBody>
      </p:sp>
      <p:sp>
        <p:nvSpPr>
          <p:cNvPr id="11" name="quad-2"/>
          <p:cNvSpPr/>
          <p:nvPr/>
        </p:nvSpPr>
        <p:spPr>
          <a:xfrm>
            <a:off x="457200" y="2715768"/>
            <a:ext cx="4023360" cy="1527048"/>
          </a:xfrm>
          <a:prstGeom prst="roundRect">
            <a:avLst>
              <a:gd name="adj" fmla="val 4790"/>
            </a:avLst>
          </a:prstGeom>
          <a:solidFill>
            <a:srgbClr val="F4EDEB"/>
          </a:solidFill>
          <a:ln/>
          <a:effectLst>
            <a:outerShdw sx="100000" sy="100000" kx="0" ky="0" algn="bl" rotWithShape="0" blurRad="76200" dist="25400" dir="5400000">
              <a:srgbClr val="000000">
                <a:alpha val="12000"/>
              </a:srgbClr>
            </a:outerShdw>
          </a:effectLst>
        </p:spPr>
      </p:sp>
      <p:sp>
        <p:nvSpPr>
          <p:cNvPr id="12" name="quad-dot-2"/>
          <p:cNvSpPr/>
          <p:nvPr/>
        </p:nvSpPr>
        <p:spPr>
          <a:xfrm>
            <a:off x="640080" y="2898648"/>
            <a:ext cx="237744" cy="237744"/>
          </a:xfrm>
          <a:prstGeom prst="ellipse">
            <a:avLst/>
          </a:prstGeom>
          <a:solidFill>
            <a:srgbClr val="9A6B12"/>
          </a:solidFill>
          <a:ln/>
        </p:spPr>
      </p:sp>
      <p:sp>
        <p:nvSpPr>
          <p:cNvPr id="13" name="Text 11"/>
          <p:cNvSpPr txBox="1"/>
          <p:nvPr/>
        </p:nvSpPr>
        <p:spPr>
          <a:xfrm>
            <a:off x="1005840" y="2834640"/>
            <a:ext cx="3291840" cy="365760"/>
          </a:xfrm>
          <a:prstGeom prst="rect">
            <a:avLst/>
          </a:prstGeom>
          <a:noFill/>
          <a:ln/>
        </p:spPr>
        <p:txBody>
          <a:bodyPr wrap="square" lIns="0" tIns="0" rIns="0" bIns="0" rtlCol="0" anchor="ctr"/>
          <a:lstStyle/>
          <a:p>
            <a:pPr indent="0" marL="0">
              <a:buNone/>
            </a:pPr>
            <a:r>
              <a:rPr lang="en-US" sz="1500" b="1" dirty="0">
                <a:solidFill>
                  <a:srgbClr val="9A6B12"/>
                </a:solidFill>
              </a:rPr>
              <a:t>Vị trí, trích dẫn</a:t>
            </a:r>
            <a:endParaRPr lang="en-US" sz="1500" dirty="0"/>
          </a:p>
        </p:txBody>
      </p:sp>
      <p:sp>
        <p:nvSpPr>
          <p:cNvPr id="14" name="Text 12"/>
          <p:cNvSpPr txBox="1"/>
          <p:nvPr/>
        </p:nvSpPr>
        <p:spPr>
          <a:xfrm>
            <a:off x="685800" y="3264408"/>
            <a:ext cx="3611880" cy="1005840"/>
          </a:xfrm>
          <a:prstGeom prst="rect">
            <a:avLst/>
          </a:prstGeom>
          <a:noFill/>
          <a:ln/>
        </p:spPr>
        <p:txBody>
          <a:bodyPr wrap="square" lIns="0" tIns="0" rIns="0" bIns="0" rtlCol="0" anchor="t"/>
          <a:lstStyle/>
          <a:p>
            <a:pPr indent="0" marL="0">
              <a:spcAft>
                <a:spcPts val="400"/>
              </a:spcAft>
              <a:buNone/>
            </a:pPr>
            <a:r>
              <a:rPr lang="en-US" sz="1100" b="1" dirty="0">
                <a:solidFill>
                  <a:srgbClr val="222222"/>
                </a:solidFill>
                <a:latin typeface="Courier New" pitchFamily="34" charset="0"/>
                <a:ea typeface="Courier New" pitchFamily="34" charset="-122"/>
                <a:cs typeface="Courier New" pitchFamily="34" charset="-120"/>
              </a:rPr>
              <a:t>meta_de_muc, meta_dieu, meta_khoan</a:t>
            </a:r>
            <a:pPr indent="0" marL="0">
              <a:spcAft>
                <a:spcPts val="400"/>
              </a:spcAft>
              <a:buNone/>
            </a:pPr>
            <a:r>
              <a:rPr lang="en-US" sz="1200" dirty="0">
                <a:solidFill>
                  <a:srgbClr val="4A5A6A"/>
                </a:solidFill>
              </a:rPr>
              <a:t>: ghép câu trích dẫn</a:t>
            </a:r>
            <a:endParaRPr lang="en-US" sz="1400" dirty="0"/>
          </a:p>
          <a:p>
            <a:pPr indent="0" marL="0">
              <a:spcAft>
                <a:spcPts val="400"/>
              </a:spcAft>
              <a:buNone/>
            </a:pPr>
            <a:r>
              <a:rPr lang="en-US" sz="1100" b="1" dirty="0">
                <a:solidFill>
                  <a:srgbClr val="222222"/>
                </a:solidFill>
                <a:latin typeface="Courier New" pitchFamily="34" charset="0"/>
                <a:ea typeface="Courier New" pitchFamily="34" charset="-122"/>
                <a:cs typeface="Courier New" pitchFamily="34" charset="-120"/>
              </a:rPr>
              <a:t>meta_chuong / pd_chuong</a:t>
            </a:r>
            <a:pPr indent="0" marL="0">
              <a:spcAft>
                <a:spcPts val="400"/>
              </a:spcAft>
              <a:buNone/>
            </a:pPr>
            <a:r>
              <a:rPr lang="en-US" sz="1200" dirty="0">
                <a:solidFill>
                  <a:srgbClr val="4A5A6A"/>
                </a:solidFill>
              </a:rPr>
              <a:t>: chương văn bản gốc / chương Pháp điển</a:t>
            </a:r>
            <a:endParaRPr lang="en-US" sz="1400" dirty="0"/>
          </a:p>
        </p:txBody>
      </p:sp>
      <p:sp>
        <p:nvSpPr>
          <p:cNvPr id="15" name="quad-3"/>
          <p:cNvSpPr/>
          <p:nvPr/>
        </p:nvSpPr>
        <p:spPr>
          <a:xfrm>
            <a:off x="4663440" y="2715768"/>
            <a:ext cx="4023360" cy="1527048"/>
          </a:xfrm>
          <a:prstGeom prst="roundRect">
            <a:avLst>
              <a:gd name="adj" fmla="val 4790"/>
            </a:avLst>
          </a:prstGeom>
          <a:solidFill>
            <a:srgbClr val="F4EDEB"/>
          </a:solidFill>
          <a:ln/>
          <a:effectLst>
            <a:outerShdw sx="100000" sy="100000" kx="0" ky="0" algn="bl" rotWithShape="0" blurRad="76200" dist="25400" dir="5400000">
              <a:srgbClr val="000000">
                <a:alpha val="12000"/>
              </a:srgbClr>
            </a:outerShdw>
          </a:effectLst>
        </p:spPr>
      </p:sp>
      <p:sp>
        <p:nvSpPr>
          <p:cNvPr id="16" name="quad-dot-3"/>
          <p:cNvSpPr/>
          <p:nvPr/>
        </p:nvSpPr>
        <p:spPr>
          <a:xfrm>
            <a:off x="4846320" y="2898648"/>
            <a:ext cx="237744" cy="237744"/>
          </a:xfrm>
          <a:prstGeom prst="ellipse">
            <a:avLst/>
          </a:prstGeom>
          <a:solidFill>
            <a:srgbClr val="2E6B5E"/>
          </a:solidFill>
          <a:ln/>
        </p:spPr>
      </p:sp>
      <p:sp>
        <p:nvSpPr>
          <p:cNvPr id="17" name="Text 15"/>
          <p:cNvSpPr txBox="1"/>
          <p:nvPr/>
        </p:nvSpPr>
        <p:spPr>
          <a:xfrm>
            <a:off x="5212080" y="2834640"/>
            <a:ext cx="3291840" cy="365760"/>
          </a:xfrm>
          <a:prstGeom prst="rect">
            <a:avLst/>
          </a:prstGeom>
          <a:noFill/>
          <a:ln/>
        </p:spPr>
        <p:txBody>
          <a:bodyPr wrap="square" lIns="0" tIns="0" rIns="0" bIns="0" rtlCol="0" anchor="ctr"/>
          <a:lstStyle/>
          <a:p>
            <a:pPr indent="0" marL="0">
              <a:buNone/>
            </a:pPr>
            <a:r>
              <a:rPr lang="en-US" sz="1500" b="1" dirty="0">
                <a:solidFill>
                  <a:srgbClr val="2E6B5E"/>
                </a:solidFill>
              </a:rPr>
              <a:t>Hiệu lực, phiên bản</a:t>
            </a:r>
            <a:endParaRPr lang="en-US" sz="1500" dirty="0"/>
          </a:p>
        </p:txBody>
      </p:sp>
      <p:sp>
        <p:nvSpPr>
          <p:cNvPr id="18" name="Text 16"/>
          <p:cNvSpPr txBox="1"/>
          <p:nvPr/>
        </p:nvSpPr>
        <p:spPr>
          <a:xfrm>
            <a:off x="4892040" y="3264408"/>
            <a:ext cx="3611880" cy="1005840"/>
          </a:xfrm>
          <a:prstGeom prst="rect">
            <a:avLst/>
          </a:prstGeom>
          <a:noFill/>
          <a:ln/>
        </p:spPr>
        <p:txBody>
          <a:bodyPr wrap="square" lIns="0" tIns="0" rIns="0" bIns="0" rtlCol="0" anchor="t"/>
          <a:lstStyle/>
          <a:p>
            <a:pPr indent="0" marL="0">
              <a:spcAft>
                <a:spcPts val="400"/>
              </a:spcAft>
              <a:buNone/>
            </a:pPr>
            <a:r>
              <a:rPr lang="en-US" sz="1100" b="1" dirty="0">
                <a:solidFill>
                  <a:srgbClr val="222222"/>
                </a:solidFill>
                <a:latin typeface="Courier New" pitchFamily="34" charset="0"/>
                <a:ea typeface="Courier New" pitchFamily="34" charset="-122"/>
                <a:cs typeface="Courier New" pitchFamily="34" charset="-120"/>
              </a:rPr>
              <a:t>effective_*, still_valid</a:t>
            </a:r>
            <a:pPr indent="0" marL="0">
              <a:spcAft>
                <a:spcPts val="400"/>
              </a:spcAft>
              <a:buNone/>
            </a:pPr>
            <a:r>
              <a:rPr lang="en-US" sz="1200" dirty="0">
                <a:solidFill>
                  <a:srgbClr val="4A5A6A"/>
                </a:solidFill>
              </a:rPr>
              <a:t>: lọc văn bản còn hiệu lực</a:t>
            </a:r>
            <a:endParaRPr lang="en-US" sz="1400" dirty="0"/>
          </a:p>
          <a:p>
            <a:pPr indent="0" marL="0">
              <a:spcAft>
                <a:spcPts val="400"/>
              </a:spcAft>
              <a:buNone/>
            </a:pPr>
            <a:r>
              <a:rPr lang="en-US" sz="1100" b="1" dirty="0">
                <a:solidFill>
                  <a:srgbClr val="222222"/>
                </a:solidFill>
                <a:latin typeface="Courier New" pitchFamily="34" charset="0"/>
                <a:ea typeface="Courier New" pitchFamily="34" charset="-122"/>
                <a:cs typeface="Courier New" pitchFamily="34" charset="-120"/>
              </a:rPr>
              <a:t>version_date</a:t>
            </a:r>
            <a:pPr indent="0" marL="0">
              <a:spcAft>
                <a:spcPts val="400"/>
              </a:spcAft>
              <a:buNone/>
            </a:pPr>
            <a:r>
              <a:rPr lang="en-US" sz="1200" dirty="0">
                <a:solidFill>
                  <a:srgbClr val="4A5A6A"/>
                </a:solidFill>
              </a:rPr>
              <a:t>: chọn bản mới hơn khi trùng</a:t>
            </a:r>
            <a:endParaRPr lang="en-US" sz="1400" dirty="0"/>
          </a:p>
          <a:p>
            <a:pPr indent="0" marL="0">
              <a:spcAft>
                <a:spcPts val="400"/>
              </a:spcAft>
              <a:buNone/>
            </a:pPr>
            <a:r>
              <a:rPr lang="en-US" sz="1100" b="1" dirty="0">
                <a:solidFill>
                  <a:srgbClr val="222222"/>
                </a:solidFill>
                <a:latin typeface="Courier New" pitchFamily="34" charset="0"/>
                <a:ea typeface="Courier New" pitchFamily="34" charset="-122"/>
                <a:cs typeface="Courier New" pitchFamily="34" charset="-120"/>
              </a:rPr>
              <a:t>content_hash, amends</a:t>
            </a:r>
            <a:pPr indent="0" marL="0">
              <a:spcAft>
                <a:spcPts val="400"/>
              </a:spcAft>
              <a:buNone/>
            </a:pPr>
            <a:r>
              <a:rPr lang="en-US" sz="1200" dirty="0">
                <a:solidFill>
                  <a:srgbClr val="4A5A6A"/>
                </a:solidFill>
              </a:rPr>
              <a:t>: phát hiện thay đổi, sửa đổi</a:t>
            </a:r>
            <a:endParaRPr lang="en-US" sz="1400" dirty="0"/>
          </a:p>
        </p:txBody>
      </p:sp>
      <p:sp>
        <p:nvSpPr>
          <p:cNvPr id="19" name="Text 17"/>
          <p:cNvSpPr txBox="1"/>
          <p:nvPr/>
        </p:nvSpPr>
        <p:spPr>
          <a:xfrm>
            <a:off x="457200" y="4407408"/>
            <a:ext cx="8229600" cy="274320"/>
          </a:xfrm>
          <a:prstGeom prst="rect">
            <a:avLst/>
          </a:prstGeom>
          <a:noFill/>
          <a:ln/>
        </p:spPr>
        <p:txBody>
          <a:bodyPr wrap="square" lIns="0" tIns="0" rIns="0" bIns="0" rtlCol="0" anchor="t"/>
          <a:lstStyle/>
          <a:p>
            <a:pPr indent="0" marL="0">
              <a:buNone/>
            </a:pPr>
            <a:r>
              <a:rPr lang="en-US" sz="1100" i="1" dirty="0">
                <a:solidFill>
                  <a:schemeClr val="accent3"/>
                </a:solidFill>
              </a:rPr>
              <a:t>Câu trích dẫn: Điều {meta_dieu} [khoản {meta_khoan}] {meta_de_muc}  →  "Điều 35 khoản 4-5 Nghị định số 12/2026/NĐ-CP"</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version_date quyết định bản nào được giữ</a:t>
            </a:r>
            <a:endParaRPr lang="en-US" sz="2800" dirty="0"/>
          </a:p>
        </p:txBody>
      </p:sp>
      <p:sp>
        <p:nvSpPr>
          <p:cNvPr id="3" name="step-1"/>
          <p:cNvSpPr/>
          <p:nvPr/>
        </p:nvSpPr>
        <p:spPr>
          <a:xfrm>
            <a:off x="457200" y="1143000"/>
            <a:ext cx="384048" cy="384048"/>
          </a:xfrm>
          <a:prstGeom prst="ellipse">
            <a:avLst/>
          </a:prstGeom>
          <a:solidFill>
            <a:srgbClr val="8E2C24"/>
          </a:solidFill>
          <a:ln/>
        </p:spPr>
      </p:sp>
      <p:sp>
        <p:nvSpPr>
          <p:cNvPr id="4" name="step-1-label"/>
          <p:cNvSpPr txBox="1"/>
          <p:nvPr/>
        </p:nvSpPr>
        <p:spPr>
          <a:xfrm>
            <a:off x="457200" y="11430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 3"/>
          <p:cNvSpPr txBox="1"/>
          <p:nvPr/>
        </p:nvSpPr>
        <p:spPr>
          <a:xfrm>
            <a:off x="1005840" y="1097280"/>
            <a:ext cx="3657600" cy="320040"/>
          </a:xfrm>
          <a:prstGeom prst="rect">
            <a:avLst/>
          </a:prstGeom>
          <a:noFill/>
          <a:ln/>
        </p:spPr>
        <p:txBody>
          <a:bodyPr wrap="square" lIns="0" tIns="0" rIns="0" bIns="0" rtlCol="0" anchor="t"/>
          <a:lstStyle/>
          <a:p>
            <a:pPr indent="0" marL="0">
              <a:buNone/>
            </a:pPr>
            <a:r>
              <a:rPr lang="en-US" sz="1500" b="1" dirty="0">
                <a:solidFill>
                  <a:schemeClr val="tx2"/>
                </a:solidFill>
              </a:rPr>
              <a:t>So theo từng Điều</a:t>
            </a:r>
            <a:endParaRPr lang="en-US" sz="1500" dirty="0"/>
          </a:p>
        </p:txBody>
      </p:sp>
      <p:sp>
        <p:nvSpPr>
          <p:cNvPr id="6" name="Text 4"/>
          <p:cNvSpPr txBox="1"/>
          <p:nvPr/>
        </p:nvSpPr>
        <p:spPr>
          <a:xfrm>
            <a:off x="1005840" y="1426464"/>
            <a:ext cx="3657600" cy="411480"/>
          </a:xfrm>
          <a:prstGeom prst="rect">
            <a:avLst/>
          </a:prstGeom>
          <a:noFill/>
          <a:ln/>
        </p:spPr>
        <p:txBody>
          <a:bodyPr wrap="square" lIns="0" tIns="0" rIns="0" bIns="0" rtlCol="0" anchor="t"/>
          <a:lstStyle/>
          <a:p>
            <a:pPr indent="0" marL="0">
              <a:buNone/>
            </a:pPr>
            <a:r>
              <a:rPr lang="en-US" sz="1200" dirty="0">
                <a:solidFill>
                  <a:schemeClr val="accent3"/>
                </a:solidFill>
              </a:rPr>
              <a:t>Gom các phần :pK, so cả Điều để không lẫn hai nguồn</a:t>
            </a:r>
            <a:endParaRPr lang="en-US" sz="1200" dirty="0"/>
          </a:p>
        </p:txBody>
      </p:sp>
      <p:sp>
        <p:nvSpPr>
          <p:cNvPr id="7" name="step-2"/>
          <p:cNvSpPr/>
          <p:nvPr/>
        </p:nvSpPr>
        <p:spPr>
          <a:xfrm>
            <a:off x="457200" y="1984248"/>
            <a:ext cx="384048" cy="384048"/>
          </a:xfrm>
          <a:prstGeom prst="ellipse">
            <a:avLst/>
          </a:prstGeom>
          <a:solidFill>
            <a:srgbClr val="8E2C24"/>
          </a:solidFill>
          <a:ln/>
        </p:spPr>
      </p:sp>
      <p:sp>
        <p:nvSpPr>
          <p:cNvPr id="8" name="step-2-label"/>
          <p:cNvSpPr txBox="1"/>
          <p:nvPr/>
        </p:nvSpPr>
        <p:spPr>
          <a:xfrm>
            <a:off x="457200" y="19842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1005840" y="1938528"/>
            <a:ext cx="3657600" cy="320040"/>
          </a:xfrm>
          <a:prstGeom prst="rect">
            <a:avLst/>
          </a:prstGeom>
          <a:noFill/>
          <a:ln/>
        </p:spPr>
        <p:txBody>
          <a:bodyPr wrap="square" lIns="0" tIns="0" rIns="0" bIns="0" rtlCol="0" anchor="t"/>
          <a:lstStyle/>
          <a:p>
            <a:pPr indent="0" marL="0">
              <a:buNone/>
            </a:pPr>
            <a:r>
              <a:rPr lang="en-US" sz="1500" b="1" dirty="0">
                <a:solidFill>
                  <a:schemeClr val="tx2"/>
                </a:solidFill>
              </a:rPr>
              <a:t>version_date lớn hơn thắng</a:t>
            </a:r>
            <a:endParaRPr lang="en-US" sz="1500" dirty="0"/>
          </a:p>
        </p:txBody>
      </p:sp>
      <p:sp>
        <p:nvSpPr>
          <p:cNvPr id="10" name="Text 8"/>
          <p:cNvSpPr txBox="1"/>
          <p:nvPr/>
        </p:nvSpPr>
        <p:spPr>
          <a:xfrm>
            <a:off x="1005840" y="2267712"/>
            <a:ext cx="3657600" cy="411480"/>
          </a:xfrm>
          <a:prstGeom prst="rect">
            <a:avLst/>
          </a:prstGeom>
          <a:noFill/>
          <a:ln/>
        </p:spPr>
        <p:txBody>
          <a:bodyPr wrap="square" lIns="0" tIns="0" rIns="0" bIns="0" rtlCol="0" anchor="t"/>
          <a:lstStyle/>
          <a:p>
            <a:pPr indent="0" marL="0">
              <a:buNone/>
            </a:pPr>
            <a:r>
              <a:rPr lang="en-US" sz="1200" dirty="0">
                <a:solidFill>
                  <a:schemeClr val="accent3"/>
                </a:solidFill>
              </a:rPr>
              <a:t>Ngày hiệu lực mới nhất mà nội dung đã phản ánh</a:t>
            </a:r>
            <a:endParaRPr lang="en-US" sz="1200" dirty="0"/>
          </a:p>
        </p:txBody>
      </p:sp>
      <p:sp>
        <p:nvSpPr>
          <p:cNvPr id="11" name="step-3"/>
          <p:cNvSpPr/>
          <p:nvPr/>
        </p:nvSpPr>
        <p:spPr>
          <a:xfrm>
            <a:off x="457200" y="2825496"/>
            <a:ext cx="384048" cy="384048"/>
          </a:xfrm>
          <a:prstGeom prst="ellipse">
            <a:avLst/>
          </a:prstGeom>
          <a:solidFill>
            <a:srgbClr val="8E2C24"/>
          </a:solidFill>
          <a:ln/>
        </p:spPr>
      </p:sp>
      <p:sp>
        <p:nvSpPr>
          <p:cNvPr id="12" name="step-3-label"/>
          <p:cNvSpPr txBox="1"/>
          <p:nvPr/>
        </p:nvSpPr>
        <p:spPr>
          <a:xfrm>
            <a:off x="457200" y="28254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1"/>
          <p:cNvSpPr txBox="1"/>
          <p:nvPr/>
        </p:nvSpPr>
        <p:spPr>
          <a:xfrm>
            <a:off x="1005840" y="2779776"/>
            <a:ext cx="3657600" cy="320040"/>
          </a:xfrm>
          <a:prstGeom prst="rect">
            <a:avLst/>
          </a:prstGeom>
          <a:noFill/>
          <a:ln/>
        </p:spPr>
        <p:txBody>
          <a:bodyPr wrap="square" lIns="0" tIns="0" rIns="0" bIns="0" rtlCol="0" anchor="t"/>
          <a:lstStyle/>
          <a:p>
            <a:pPr indent="0" marL="0">
              <a:buNone/>
            </a:pPr>
            <a:r>
              <a:rPr lang="en-US" sz="1500" b="1" dirty="0">
                <a:solidFill>
                  <a:schemeClr val="tx2"/>
                </a:solidFill>
              </a:rPr>
              <a:t>Bằng nhau: Pháp điển thắng</a:t>
            </a:r>
            <a:endParaRPr lang="en-US" sz="1500" dirty="0"/>
          </a:p>
        </p:txBody>
      </p:sp>
      <p:sp>
        <p:nvSpPr>
          <p:cNvPr id="14" name="Text 12"/>
          <p:cNvSpPr txBox="1"/>
          <p:nvPr/>
        </p:nvSpPr>
        <p:spPr>
          <a:xfrm>
            <a:off x="1005840" y="3108960"/>
            <a:ext cx="3657600" cy="411480"/>
          </a:xfrm>
          <a:prstGeom prst="rect">
            <a:avLst/>
          </a:prstGeom>
          <a:noFill/>
          <a:ln/>
        </p:spPr>
        <p:txBody>
          <a:bodyPr wrap="square" lIns="0" tIns="0" rIns="0" bIns="0" rtlCol="0" anchor="t"/>
          <a:lstStyle/>
          <a:p>
            <a:pPr indent="0" marL="0">
              <a:buNone/>
            </a:pPr>
            <a:r>
              <a:rPr lang="en-US" sz="1200" dirty="0">
                <a:solidFill>
                  <a:schemeClr val="accent3"/>
                </a:solidFill>
              </a:rPr>
              <a:t>Cùng nguồn thì bản nạp lại thay bản cũ</a:t>
            </a:r>
            <a:endParaRPr lang="en-US" sz="1200" dirty="0"/>
          </a:p>
        </p:txBody>
      </p:sp>
      <p:sp>
        <p:nvSpPr>
          <p:cNvPr id="15" name="step-4"/>
          <p:cNvSpPr/>
          <p:nvPr/>
        </p:nvSpPr>
        <p:spPr>
          <a:xfrm>
            <a:off x="457200" y="3666744"/>
            <a:ext cx="384048" cy="384048"/>
          </a:xfrm>
          <a:prstGeom prst="ellipse">
            <a:avLst/>
          </a:prstGeom>
          <a:solidFill>
            <a:srgbClr val="8E2C24"/>
          </a:solidFill>
          <a:ln/>
        </p:spPr>
      </p:sp>
      <p:sp>
        <p:nvSpPr>
          <p:cNvPr id="16" name="step-4-label"/>
          <p:cNvSpPr txBox="1"/>
          <p:nvPr/>
        </p:nvSpPr>
        <p:spPr>
          <a:xfrm>
            <a:off x="457200" y="366674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7" name="Text 15"/>
          <p:cNvSpPr txBox="1"/>
          <p:nvPr/>
        </p:nvSpPr>
        <p:spPr>
          <a:xfrm>
            <a:off x="1005840" y="3621024"/>
            <a:ext cx="3657600" cy="320040"/>
          </a:xfrm>
          <a:prstGeom prst="rect">
            <a:avLst/>
          </a:prstGeom>
          <a:noFill/>
          <a:ln/>
        </p:spPr>
        <p:txBody>
          <a:bodyPr wrap="square" lIns="0" tIns="0" rIns="0" bIns="0" rtlCol="0" anchor="t"/>
          <a:lstStyle/>
          <a:p>
            <a:pPr indent="0" marL="0">
              <a:buNone/>
            </a:pPr>
            <a:r>
              <a:rPr lang="en-US" sz="1500" b="1" dirty="0">
                <a:solidFill>
                  <a:schemeClr val="tx2"/>
                </a:solidFill>
              </a:rPr>
              <a:t>Xóa mọi phần cũ rồi mới ghi</a:t>
            </a:r>
            <a:endParaRPr lang="en-US" sz="1500" dirty="0"/>
          </a:p>
        </p:txBody>
      </p:sp>
      <p:sp>
        <p:nvSpPr>
          <p:cNvPr id="18" name="Text 16"/>
          <p:cNvSpPr txBox="1"/>
          <p:nvPr/>
        </p:nvSpPr>
        <p:spPr>
          <a:xfrm>
            <a:off x="1005840" y="3950208"/>
            <a:ext cx="3657600" cy="411480"/>
          </a:xfrm>
          <a:prstGeom prst="rect">
            <a:avLst/>
          </a:prstGeom>
          <a:noFill/>
          <a:ln/>
        </p:spPr>
        <p:txBody>
          <a:bodyPr wrap="square" lIns="0" tIns="0" rIns="0" bIns="0" rtlCol="0" anchor="t"/>
          <a:lstStyle/>
          <a:p>
            <a:pPr indent="0" marL="0">
              <a:buNone/>
            </a:pPr>
            <a:r>
              <a:rPr lang="en-US" sz="1200" dirty="0">
                <a:solidFill>
                  <a:schemeClr val="accent3"/>
                </a:solidFill>
              </a:rPr>
              <a:t>Hai nguồn có thể cắt Điều thành số phần khác nhau</a:t>
            </a:r>
            <a:endParaRPr lang="en-US" sz="1200" dirty="0"/>
          </a:p>
        </p:txBody>
      </p:sp>
      <p:sp>
        <p:nvSpPr>
          <p:cNvPr id="19" name="ex-145"/>
          <p:cNvSpPr/>
          <p:nvPr/>
        </p:nvSpPr>
        <p:spPr>
          <a:xfrm>
            <a:off x="5029200" y="1097280"/>
            <a:ext cx="3657600" cy="1600200"/>
          </a:xfrm>
          <a:prstGeom prst="roundRect">
            <a:avLst>
              <a:gd name="adj" fmla="val 4571"/>
            </a:avLst>
          </a:prstGeom>
          <a:solidFill>
            <a:srgbClr val="F4EDEB"/>
          </a:solidFill>
          <a:ln/>
          <a:effectLst>
            <a:outerShdw sx="100000" sy="100000" kx="0" ky="0" algn="bl" rotWithShape="0" blurRad="76200" dist="25400" dir="5400000">
              <a:srgbClr val="000000">
                <a:alpha val="12000"/>
              </a:srgbClr>
            </a:outerShdw>
          </a:effectLst>
        </p:spPr>
      </p:sp>
      <p:sp>
        <p:nvSpPr>
          <p:cNvPr id="20" name="Text 18"/>
          <p:cNvSpPr txBox="1"/>
          <p:nvPr/>
        </p:nvSpPr>
        <p:spPr>
          <a:xfrm>
            <a:off x="5212080" y="1188720"/>
            <a:ext cx="3291840" cy="320040"/>
          </a:xfrm>
          <a:prstGeom prst="rect">
            <a:avLst/>
          </a:prstGeom>
          <a:noFill/>
          <a:ln/>
        </p:spPr>
        <p:txBody>
          <a:bodyPr wrap="square" lIns="0" tIns="0" rIns="0" bIns="0" rtlCol="0" anchor="t"/>
          <a:lstStyle/>
          <a:p>
            <a:pPr indent="0" marL="0">
              <a:buNone/>
            </a:pPr>
            <a:r>
              <a:rPr lang="en-US" sz="1300" b="1" dirty="0">
                <a:solidFill>
                  <a:schemeClr val="tx2"/>
                </a:solidFill>
              </a:rPr>
              <a:t>NĐ 145/2020 (Pháp điển)</a:t>
            </a:r>
            <a:endParaRPr lang="en-US" sz="1300" dirty="0"/>
          </a:p>
        </p:txBody>
      </p:sp>
      <p:sp>
        <p:nvSpPr>
          <p:cNvPr id="21" name="Text 19"/>
          <p:cNvSpPr txBox="1"/>
          <p:nvPr/>
        </p:nvSpPr>
        <p:spPr>
          <a:xfrm>
            <a:off x="5212080" y="1554480"/>
            <a:ext cx="3291840" cy="50292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effective_from_date  2021-02-01</a:t>
            </a:r>
            <a:endParaRPr lang="en-US" sz="1100" dirty="0"/>
          </a:p>
          <a:p>
            <a:pPr indent="0" marL="0">
              <a:buNone/>
            </a:pPr>
            <a:r>
              <a:rPr lang="en-US" sz="1100" b="1" dirty="0">
                <a:solidFill>
                  <a:srgbClr val="8E2C24"/>
                </a:solidFill>
                <a:latin typeface="Courier New" pitchFamily="34" charset="0"/>
                <a:ea typeface="Courier New" pitchFamily="34" charset="-122"/>
                <a:cs typeface="Courier New" pitchFamily="34" charset="-120"/>
              </a:rPr>
              <a:t>version_date         2022-07-15</a:t>
            </a:r>
            <a:endParaRPr lang="en-US" sz="1100" dirty="0"/>
          </a:p>
        </p:txBody>
      </p:sp>
      <p:sp>
        <p:nvSpPr>
          <p:cNvPr id="22" name="Text 20"/>
          <p:cNvSpPr txBox="1"/>
          <p:nvPr/>
        </p:nvSpPr>
        <p:spPr>
          <a:xfrm>
            <a:off x="5212080" y="2103120"/>
            <a:ext cx="3291840" cy="548640"/>
          </a:xfrm>
          <a:prstGeom prst="rect">
            <a:avLst/>
          </a:prstGeom>
          <a:noFill/>
          <a:ln/>
        </p:spPr>
        <p:txBody>
          <a:bodyPr wrap="square" lIns="0" tIns="0" rIns="0" bIns="0" rtlCol="0" anchor="t"/>
          <a:lstStyle/>
          <a:p>
            <a:pPr indent="0" marL="0">
              <a:buNone/>
            </a:pPr>
            <a:r>
              <a:rPr lang="en-US" sz="1200" dirty="0">
                <a:solidFill>
                  <a:schemeClr val="accent3"/>
                </a:solidFill>
              </a:rPr>
              <a:t>Đã bị NĐ 35/2022 sửa đổi; Pháp điển đã hợp nhất nội dung sửa đổi vào Điều.</a:t>
            </a:r>
            <a:endParaRPr lang="en-US" sz="1200" dirty="0"/>
          </a:p>
        </p:txBody>
      </p:sp>
      <p:sp>
        <p:nvSpPr>
          <p:cNvPr id="23" name="ex-replace"/>
          <p:cNvSpPr/>
          <p:nvPr/>
        </p:nvSpPr>
        <p:spPr>
          <a:xfrm>
            <a:off x="5029200" y="2880360"/>
            <a:ext cx="3657600" cy="1600200"/>
          </a:xfrm>
          <a:prstGeom prst="roundRect">
            <a:avLst>
              <a:gd name="adj" fmla="val 4571"/>
            </a:avLst>
          </a:prstGeom>
          <a:solidFill>
            <a:srgbClr val="F4EDEB"/>
          </a:solidFill>
          <a:ln/>
          <a:effectLst>
            <a:outerShdw sx="100000" sy="100000" kx="0" ky="0" algn="bl" rotWithShape="0" blurRad="76200" dist="25400" dir="5400000">
              <a:srgbClr val="000000">
                <a:alpha val="12000"/>
              </a:srgbClr>
            </a:outerShdw>
          </a:effectLst>
        </p:spPr>
      </p:sp>
      <p:sp>
        <p:nvSpPr>
          <p:cNvPr id="24" name="Text 22"/>
          <p:cNvSpPr txBox="1"/>
          <p:nvPr/>
        </p:nvSpPr>
        <p:spPr>
          <a:xfrm>
            <a:off x="5212080" y="2971800"/>
            <a:ext cx="3291840" cy="320040"/>
          </a:xfrm>
          <a:prstGeom prst="rect">
            <a:avLst/>
          </a:prstGeom>
          <a:noFill/>
          <a:ln/>
        </p:spPr>
        <p:txBody>
          <a:bodyPr wrap="square" lIns="0" tIns="0" rIns="0" bIns="0" rtlCol="0" anchor="t"/>
          <a:lstStyle/>
          <a:p>
            <a:pPr indent="0" marL="0">
              <a:buNone/>
            </a:pPr>
            <a:r>
              <a:rPr lang="en-US" sz="1300" b="1" dirty="0">
                <a:solidFill>
                  <a:schemeClr val="tx2"/>
                </a:solidFill>
              </a:rPr>
              <a:t>Văn bản bị thay thế</a:t>
            </a:r>
            <a:endParaRPr lang="en-US" sz="1300" dirty="0"/>
          </a:p>
        </p:txBody>
      </p:sp>
      <p:sp>
        <p:nvSpPr>
          <p:cNvPr id="25" name="Text 23"/>
          <p:cNvSpPr txBox="1"/>
          <p:nvPr/>
        </p:nvSpPr>
        <p:spPr>
          <a:xfrm>
            <a:off x="5212080" y="3337560"/>
            <a:ext cx="3337560"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accent3"/>
                </a:solidFill>
              </a:rPr>
              <a:t>Không xóa chunk cũ, giữ nguyên embedding</a:t>
            </a:r>
            <a:endParaRPr lang="en-US" sz="1200" dirty="0"/>
          </a:p>
          <a:p>
            <a:pPr marL="177800" indent="-177800">
              <a:spcAft>
                <a:spcPts val="300"/>
              </a:spcAft>
              <a:buSzPct val="100000"/>
              <a:buChar char="•"/>
            </a:pPr>
            <a:r>
              <a:rPr lang="en-US" sz="1200" dirty="0">
                <a:solidFill>
                  <a:schemeClr val="accent3"/>
                </a:solidFill>
              </a:rPr>
              <a:t>Đặt still_valid = false và effective_to_date</a:t>
            </a:r>
            <a:endParaRPr lang="en-US" sz="1200" dirty="0"/>
          </a:p>
          <a:p>
            <a:pPr marL="177800" indent="-177800">
              <a:spcAft>
                <a:spcPts val="300"/>
              </a:spcAft>
              <a:buSzPct val="100000"/>
              <a:buChar char="•"/>
            </a:pPr>
            <a:r>
              <a:rPr lang="en-US" sz="1200" dirty="0">
                <a:solidFill>
                  <a:schemeClr val="accent3"/>
                </a:solidFill>
              </a:rPr>
              <a:t>Truy vấn mặc định chỉ lấy văn bản còn hiệu lực</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Những khó khăn còn phải xử lý</a:t>
            </a:r>
            <a:endParaRPr lang="en-US" sz="2800" dirty="0"/>
          </a:p>
        </p:txBody>
      </p:sp>
      <p:sp>
        <p:nvSpPr>
          <p:cNvPr id="3" name="issue-0"/>
          <p:cNvSpPr/>
          <p:nvPr/>
        </p:nvSpPr>
        <p:spPr>
          <a:xfrm>
            <a:off x="457200" y="1097280"/>
            <a:ext cx="2651760" cy="1645920"/>
          </a:xfrm>
          <a:prstGeom prst="roundRect">
            <a:avLst>
              <a:gd name="adj" fmla="val 4444"/>
            </a:avLst>
          </a:prstGeom>
          <a:solidFill>
            <a:srgbClr val="F4EDEB"/>
          </a:solidFill>
          <a:ln/>
          <a:effectLst>
            <a:outerShdw sx="100000" sy="100000" kx="0" ky="0" algn="bl" rotWithShape="0" blurRad="76200" dist="25400" dir="5400000">
              <a:srgbClr val="000000">
                <a:alpha val="12000"/>
              </a:srgbClr>
            </a:outerShdw>
          </a:effectLst>
        </p:spPr>
      </p:sp>
      <p:sp>
        <p:nvSpPr>
          <p:cNvPr id="4" name="issue-badge-0"/>
          <p:cNvSpPr/>
          <p:nvPr/>
        </p:nvSpPr>
        <p:spPr>
          <a:xfrm>
            <a:off x="621792" y="1261872"/>
            <a:ext cx="365760" cy="365760"/>
          </a:xfrm>
          <a:prstGeom prst="ellipse">
            <a:avLst/>
          </a:prstGeom>
          <a:solidFill>
            <a:srgbClr val="8E2C24"/>
          </a:solidFill>
          <a:ln/>
        </p:spPr>
      </p:sp>
      <p:sp>
        <p:nvSpPr>
          <p:cNvPr id="5" name="issue-badge-0-label"/>
          <p:cNvSpPr txBox="1"/>
          <p:nvPr/>
        </p:nvSpPr>
        <p:spPr>
          <a:xfrm>
            <a:off x="621792" y="12618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097280" y="1216152"/>
            <a:ext cx="1874520" cy="457200"/>
          </a:xfrm>
          <a:prstGeom prst="rect">
            <a:avLst/>
          </a:prstGeom>
          <a:noFill/>
          <a:ln/>
        </p:spPr>
        <p:txBody>
          <a:bodyPr wrap="square" lIns="0" tIns="0" rIns="0" bIns="0" rtlCol="0" anchor="ctr"/>
          <a:lstStyle/>
          <a:p>
            <a:pPr indent="0" marL="0">
              <a:buNone/>
            </a:pPr>
            <a:r>
              <a:rPr lang="en-US" sz="1300" b="1" dirty="0">
                <a:solidFill>
                  <a:schemeClr val="tx2"/>
                </a:solidFill>
              </a:rPr>
              <a:t>Chú thích sửa đổi trong PDF</a:t>
            </a:r>
            <a:endParaRPr lang="en-US" sz="1300" dirty="0"/>
          </a:p>
        </p:txBody>
      </p:sp>
      <p:sp>
        <p:nvSpPr>
          <p:cNvPr id="7" name="Text 5"/>
          <p:cNvSpPr txBox="1"/>
          <p:nvPr/>
        </p:nvSpPr>
        <p:spPr>
          <a:xfrm>
            <a:off x="640080" y="1755648"/>
            <a:ext cx="2286000" cy="914400"/>
          </a:xfrm>
          <a:prstGeom prst="rect">
            <a:avLst/>
          </a:prstGeom>
          <a:noFill/>
          <a:ln/>
        </p:spPr>
        <p:txBody>
          <a:bodyPr wrap="square" lIns="0" tIns="0" rIns="0" bIns="0" rtlCol="0" anchor="t"/>
          <a:lstStyle/>
          <a:p>
            <a:pPr indent="0" marL="0">
              <a:buNone/>
            </a:pPr>
            <a:r>
              <a:rPr lang="en-US" sz="1200" dirty="0">
                <a:solidFill>
                  <a:schemeClr val="accent3"/>
                </a:solidFill>
              </a:rPr>
              <a:t>Dấu chú thích lẫn trong câu ("động¹"); chú thích tràn sang trang sau lẫn vào nội dung Điều.</a:t>
            </a:r>
            <a:endParaRPr lang="en-US" sz="1200" dirty="0"/>
          </a:p>
        </p:txBody>
      </p:sp>
      <p:sp>
        <p:nvSpPr>
          <p:cNvPr id="8" name="issue-1"/>
          <p:cNvSpPr/>
          <p:nvPr/>
        </p:nvSpPr>
        <p:spPr>
          <a:xfrm>
            <a:off x="3246120" y="1097280"/>
            <a:ext cx="2651760" cy="1645920"/>
          </a:xfrm>
          <a:prstGeom prst="roundRect">
            <a:avLst>
              <a:gd name="adj" fmla="val 4444"/>
            </a:avLst>
          </a:prstGeom>
          <a:solidFill>
            <a:srgbClr val="F4EDEB"/>
          </a:solidFill>
          <a:ln/>
          <a:effectLst>
            <a:outerShdw sx="100000" sy="100000" kx="0" ky="0" algn="bl" rotWithShape="0" blurRad="76200" dist="25400" dir="5400000">
              <a:srgbClr val="000000">
                <a:alpha val="12000"/>
              </a:srgbClr>
            </a:outerShdw>
          </a:effectLst>
        </p:spPr>
      </p:sp>
      <p:sp>
        <p:nvSpPr>
          <p:cNvPr id="9" name="issue-badge-1"/>
          <p:cNvSpPr/>
          <p:nvPr/>
        </p:nvSpPr>
        <p:spPr>
          <a:xfrm>
            <a:off x="3410712" y="1261872"/>
            <a:ext cx="365760" cy="365760"/>
          </a:xfrm>
          <a:prstGeom prst="ellipse">
            <a:avLst/>
          </a:prstGeom>
          <a:solidFill>
            <a:srgbClr val="8E2C24"/>
          </a:solidFill>
          <a:ln/>
        </p:spPr>
      </p:sp>
      <p:sp>
        <p:nvSpPr>
          <p:cNvPr id="10" name="issue-badge-1-label"/>
          <p:cNvSpPr txBox="1"/>
          <p:nvPr/>
        </p:nvSpPr>
        <p:spPr>
          <a:xfrm>
            <a:off x="3410712" y="12618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3886200" y="1216152"/>
            <a:ext cx="1874520" cy="457200"/>
          </a:xfrm>
          <a:prstGeom prst="rect">
            <a:avLst/>
          </a:prstGeom>
          <a:noFill/>
          <a:ln/>
        </p:spPr>
        <p:txBody>
          <a:bodyPr wrap="square" lIns="0" tIns="0" rIns="0" bIns="0" rtlCol="0" anchor="ctr"/>
          <a:lstStyle/>
          <a:p>
            <a:pPr indent="0" marL="0">
              <a:buNone/>
            </a:pPr>
            <a:r>
              <a:rPr lang="en-US" sz="1300" b="1" dirty="0">
                <a:solidFill>
                  <a:schemeClr val="tx2"/>
                </a:solidFill>
              </a:rPr>
              <a:t>Lỗi OCR</a:t>
            </a:r>
            <a:endParaRPr lang="en-US" sz="1300" dirty="0"/>
          </a:p>
        </p:txBody>
      </p:sp>
      <p:sp>
        <p:nvSpPr>
          <p:cNvPr id="12" name="Text 10"/>
          <p:cNvSpPr txBox="1"/>
          <p:nvPr/>
        </p:nvSpPr>
        <p:spPr>
          <a:xfrm>
            <a:off x="3429000" y="1755648"/>
            <a:ext cx="2286000" cy="914400"/>
          </a:xfrm>
          <a:prstGeom prst="rect">
            <a:avLst/>
          </a:prstGeom>
          <a:noFill/>
          <a:ln/>
        </p:spPr>
        <p:txBody>
          <a:bodyPr wrap="square" lIns="0" tIns="0" rIns="0" bIns="0" rtlCol="0" anchor="t"/>
          <a:lstStyle/>
          <a:p>
            <a:pPr indent="0" marL="0">
              <a:buNone/>
            </a:pPr>
            <a:r>
              <a:rPr lang="en-US" sz="1200" dirty="0">
                <a:solidFill>
                  <a:schemeClr val="accent3"/>
                </a:solidFill>
              </a:rPr>
              <a:t>Đọc Đ thành Ð, đọc sai số mũ, có thể bỏ sót Điều; cần cảnh báo khi số Điều thiếu.</a:t>
            </a:r>
            <a:endParaRPr lang="en-US" sz="1200" dirty="0"/>
          </a:p>
        </p:txBody>
      </p:sp>
      <p:sp>
        <p:nvSpPr>
          <p:cNvPr id="13" name="issue-2"/>
          <p:cNvSpPr/>
          <p:nvPr/>
        </p:nvSpPr>
        <p:spPr>
          <a:xfrm>
            <a:off x="6035040" y="1097280"/>
            <a:ext cx="2651760" cy="1645920"/>
          </a:xfrm>
          <a:prstGeom prst="roundRect">
            <a:avLst>
              <a:gd name="adj" fmla="val 4444"/>
            </a:avLst>
          </a:prstGeom>
          <a:solidFill>
            <a:srgbClr val="F4EDEB"/>
          </a:solidFill>
          <a:ln/>
          <a:effectLst>
            <a:outerShdw sx="100000" sy="100000" kx="0" ky="0" algn="bl" rotWithShape="0" blurRad="76200" dist="25400" dir="5400000">
              <a:srgbClr val="000000">
                <a:alpha val="12000"/>
              </a:srgbClr>
            </a:outerShdw>
          </a:effectLst>
        </p:spPr>
      </p:sp>
      <p:sp>
        <p:nvSpPr>
          <p:cNvPr id="14" name="issue-badge-2"/>
          <p:cNvSpPr/>
          <p:nvPr/>
        </p:nvSpPr>
        <p:spPr>
          <a:xfrm>
            <a:off x="6199632" y="1261872"/>
            <a:ext cx="365760" cy="365760"/>
          </a:xfrm>
          <a:prstGeom prst="ellipse">
            <a:avLst/>
          </a:prstGeom>
          <a:solidFill>
            <a:srgbClr val="8E2C24"/>
          </a:solidFill>
          <a:ln/>
        </p:spPr>
      </p:sp>
      <p:sp>
        <p:nvSpPr>
          <p:cNvPr id="15" name="issue-badge-2-label"/>
          <p:cNvSpPr txBox="1"/>
          <p:nvPr/>
        </p:nvSpPr>
        <p:spPr>
          <a:xfrm>
            <a:off x="6199632" y="12618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6675120" y="1216152"/>
            <a:ext cx="1874520" cy="457200"/>
          </a:xfrm>
          <a:prstGeom prst="rect">
            <a:avLst/>
          </a:prstGeom>
          <a:noFill/>
          <a:ln/>
        </p:spPr>
        <p:txBody>
          <a:bodyPr wrap="square" lIns="0" tIns="0" rIns="0" bIns="0" rtlCol="0" anchor="ctr"/>
          <a:lstStyle/>
          <a:p>
            <a:pPr indent="0" marL="0">
              <a:buNone/>
            </a:pPr>
            <a:r>
              <a:rPr lang="en-US" sz="1300" b="1" dirty="0">
                <a:solidFill>
                  <a:schemeClr val="tx2"/>
                </a:solidFill>
              </a:rPr>
              <a:t>Bảng và phụ lục</a:t>
            </a:r>
            <a:endParaRPr lang="en-US" sz="1300" dirty="0"/>
          </a:p>
        </p:txBody>
      </p:sp>
      <p:sp>
        <p:nvSpPr>
          <p:cNvPr id="17" name="Text 15"/>
          <p:cNvSpPr txBox="1"/>
          <p:nvPr/>
        </p:nvSpPr>
        <p:spPr>
          <a:xfrm>
            <a:off x="6217920" y="1755648"/>
            <a:ext cx="2286000" cy="914400"/>
          </a:xfrm>
          <a:prstGeom prst="rect">
            <a:avLst/>
          </a:prstGeom>
          <a:noFill/>
          <a:ln/>
        </p:spPr>
        <p:txBody>
          <a:bodyPr wrap="square" lIns="0" tIns="0" rIns="0" bIns="0" rtlCol="0" anchor="t"/>
          <a:lstStyle/>
          <a:p>
            <a:pPr indent="0" marL="0">
              <a:buNone/>
            </a:pPr>
            <a:r>
              <a:rPr lang="en-US" sz="1200" dirty="0">
                <a:solidFill>
                  <a:schemeClr val="accent3"/>
                </a:solidFill>
              </a:rPr>
              <a:t>Mọi phụ lục gộp thành một chunk; Điều 14 NĐ 97/2022 gần như toàn bảng, bị cắt 16 phần.</a:t>
            </a:r>
            <a:endParaRPr lang="en-US" sz="1200" dirty="0"/>
          </a:p>
        </p:txBody>
      </p:sp>
      <p:sp>
        <p:nvSpPr>
          <p:cNvPr id="18" name="issue-3"/>
          <p:cNvSpPr/>
          <p:nvPr/>
        </p:nvSpPr>
        <p:spPr>
          <a:xfrm>
            <a:off x="457200" y="2880360"/>
            <a:ext cx="2651760" cy="1645920"/>
          </a:xfrm>
          <a:prstGeom prst="roundRect">
            <a:avLst>
              <a:gd name="adj" fmla="val 4444"/>
            </a:avLst>
          </a:prstGeom>
          <a:solidFill>
            <a:srgbClr val="F4EDEB"/>
          </a:solidFill>
          <a:ln/>
          <a:effectLst>
            <a:outerShdw sx="100000" sy="100000" kx="0" ky="0" algn="bl" rotWithShape="0" blurRad="76200" dist="25400" dir="5400000">
              <a:srgbClr val="000000">
                <a:alpha val="12000"/>
              </a:srgbClr>
            </a:outerShdw>
          </a:effectLst>
        </p:spPr>
      </p:sp>
      <p:sp>
        <p:nvSpPr>
          <p:cNvPr id="19" name="issue-badge-3"/>
          <p:cNvSpPr/>
          <p:nvPr/>
        </p:nvSpPr>
        <p:spPr>
          <a:xfrm>
            <a:off x="621792" y="3044952"/>
            <a:ext cx="365760" cy="365760"/>
          </a:xfrm>
          <a:prstGeom prst="ellipse">
            <a:avLst/>
          </a:prstGeom>
          <a:solidFill>
            <a:srgbClr val="8E2C24"/>
          </a:solidFill>
          <a:ln/>
        </p:spPr>
      </p:sp>
      <p:sp>
        <p:nvSpPr>
          <p:cNvPr id="20" name="issue-badge-3-label"/>
          <p:cNvSpPr txBox="1"/>
          <p:nvPr/>
        </p:nvSpPr>
        <p:spPr>
          <a:xfrm>
            <a:off x="621792" y="30449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 19"/>
          <p:cNvSpPr txBox="1"/>
          <p:nvPr/>
        </p:nvSpPr>
        <p:spPr>
          <a:xfrm>
            <a:off x="1097280" y="2999232"/>
            <a:ext cx="1874520" cy="457200"/>
          </a:xfrm>
          <a:prstGeom prst="rect">
            <a:avLst/>
          </a:prstGeom>
          <a:noFill/>
          <a:ln/>
        </p:spPr>
        <p:txBody>
          <a:bodyPr wrap="square" lIns="0" tIns="0" rIns="0" bIns="0" rtlCol="0" anchor="ctr"/>
          <a:lstStyle/>
          <a:p>
            <a:pPr indent="0" marL="0">
              <a:buNone/>
            </a:pPr>
            <a:r>
              <a:rPr lang="en-US" sz="1300" b="1" dirty="0">
                <a:solidFill>
                  <a:schemeClr val="tx2"/>
                </a:solidFill>
              </a:rPr>
              <a:t>Chương không khớp</a:t>
            </a:r>
            <a:endParaRPr lang="en-US" sz="1300" dirty="0"/>
          </a:p>
        </p:txBody>
      </p:sp>
      <p:sp>
        <p:nvSpPr>
          <p:cNvPr id="22" name="Text 20"/>
          <p:cNvSpPr txBox="1"/>
          <p:nvPr/>
        </p:nvSpPr>
        <p:spPr>
          <a:xfrm>
            <a:off x="640080" y="3538728"/>
            <a:ext cx="2286000" cy="914400"/>
          </a:xfrm>
          <a:prstGeom prst="rect">
            <a:avLst/>
          </a:prstGeom>
          <a:noFill/>
          <a:ln/>
        </p:spPr>
        <p:txBody>
          <a:bodyPr wrap="square" lIns="0" tIns="0" rIns="0" bIns="0" rtlCol="0" anchor="t"/>
          <a:lstStyle/>
          <a:p>
            <a:pPr indent="0" marL="0">
              <a:buNone/>
            </a:pPr>
            <a:r>
              <a:rPr lang="en-US" sz="1200" dirty="0">
                <a:solidFill>
                  <a:schemeClr val="accent3"/>
                </a:solidFill>
              </a:rPr>
              <a:t>Chương Pháp điển khác chương văn bản gốc, nên không dùng chương để so khớp.</a:t>
            </a:r>
            <a:endParaRPr lang="en-US" sz="1200" dirty="0"/>
          </a:p>
        </p:txBody>
      </p:sp>
      <p:sp>
        <p:nvSpPr>
          <p:cNvPr id="23" name="issue-4"/>
          <p:cNvSpPr/>
          <p:nvPr/>
        </p:nvSpPr>
        <p:spPr>
          <a:xfrm>
            <a:off x="3246120" y="2880360"/>
            <a:ext cx="2651760" cy="1645920"/>
          </a:xfrm>
          <a:prstGeom prst="roundRect">
            <a:avLst>
              <a:gd name="adj" fmla="val 4444"/>
            </a:avLst>
          </a:prstGeom>
          <a:solidFill>
            <a:srgbClr val="F4EDEB"/>
          </a:solidFill>
          <a:ln/>
          <a:effectLst>
            <a:outerShdw sx="100000" sy="100000" kx="0" ky="0" algn="bl" rotWithShape="0" blurRad="76200" dist="25400" dir="5400000">
              <a:srgbClr val="000000">
                <a:alpha val="12000"/>
              </a:srgbClr>
            </a:outerShdw>
          </a:effectLst>
        </p:spPr>
      </p:sp>
      <p:sp>
        <p:nvSpPr>
          <p:cNvPr id="24" name="issue-badge-4"/>
          <p:cNvSpPr/>
          <p:nvPr/>
        </p:nvSpPr>
        <p:spPr>
          <a:xfrm>
            <a:off x="3410712" y="3044952"/>
            <a:ext cx="365760" cy="365760"/>
          </a:xfrm>
          <a:prstGeom prst="ellipse">
            <a:avLst/>
          </a:prstGeom>
          <a:solidFill>
            <a:srgbClr val="8E2C24"/>
          </a:solidFill>
          <a:ln/>
        </p:spPr>
      </p:sp>
      <p:sp>
        <p:nvSpPr>
          <p:cNvPr id="25" name="issue-badge-4-label"/>
          <p:cNvSpPr txBox="1"/>
          <p:nvPr/>
        </p:nvSpPr>
        <p:spPr>
          <a:xfrm>
            <a:off x="3410712" y="30449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6" name="Text 24"/>
          <p:cNvSpPr txBox="1"/>
          <p:nvPr/>
        </p:nvSpPr>
        <p:spPr>
          <a:xfrm>
            <a:off x="3886200" y="2999232"/>
            <a:ext cx="1874520" cy="457200"/>
          </a:xfrm>
          <a:prstGeom prst="rect">
            <a:avLst/>
          </a:prstGeom>
          <a:noFill/>
          <a:ln/>
        </p:spPr>
        <p:txBody>
          <a:bodyPr wrap="square" lIns="0" tIns="0" rIns="0" bIns="0" rtlCol="0" anchor="ctr"/>
          <a:lstStyle/>
          <a:p>
            <a:pPr indent="0" marL="0">
              <a:buNone/>
            </a:pPr>
            <a:r>
              <a:rPr lang="en-US" sz="1300" b="1" dirty="0">
                <a:solidFill>
                  <a:schemeClr val="tx2"/>
                </a:solidFill>
              </a:rPr>
              <a:t>version_date chỉ xấp xỉ</a:t>
            </a:r>
            <a:endParaRPr lang="en-US" sz="1300" dirty="0"/>
          </a:p>
        </p:txBody>
      </p:sp>
      <p:sp>
        <p:nvSpPr>
          <p:cNvPr id="27" name="Text 25"/>
          <p:cNvSpPr txBox="1"/>
          <p:nvPr/>
        </p:nvSpPr>
        <p:spPr>
          <a:xfrm>
            <a:off x="3429000" y="3538728"/>
            <a:ext cx="2286000" cy="914400"/>
          </a:xfrm>
          <a:prstGeom prst="rect">
            <a:avLst/>
          </a:prstGeom>
          <a:noFill/>
          <a:ln/>
        </p:spPr>
        <p:txBody>
          <a:bodyPr wrap="square" lIns="0" tIns="0" rIns="0" bIns="0" rtlCol="0" anchor="t"/>
          <a:lstStyle/>
          <a:p>
            <a:pPr indent="0" marL="0">
              <a:buNone/>
            </a:pPr>
            <a:r>
              <a:rPr lang="en-US" sz="1200" dirty="0">
                <a:solidFill>
                  <a:schemeClr val="accent3"/>
                </a:solidFill>
              </a:rPr>
              <a:t>KG chỉ ghi sửa đổi ở mức văn bản: mọi Điều của NĐ 145 đều nhận 2022-07-15.</a:t>
            </a:r>
            <a:endParaRPr lang="en-US" sz="1200" dirty="0"/>
          </a:p>
        </p:txBody>
      </p:sp>
      <p:sp>
        <p:nvSpPr>
          <p:cNvPr id="28" name="issue-5"/>
          <p:cNvSpPr/>
          <p:nvPr/>
        </p:nvSpPr>
        <p:spPr>
          <a:xfrm>
            <a:off x="6035040" y="2880360"/>
            <a:ext cx="2651760" cy="1645920"/>
          </a:xfrm>
          <a:prstGeom prst="roundRect">
            <a:avLst>
              <a:gd name="adj" fmla="val 4444"/>
            </a:avLst>
          </a:prstGeom>
          <a:solidFill>
            <a:srgbClr val="F4EDEB"/>
          </a:solidFill>
          <a:ln/>
          <a:effectLst>
            <a:outerShdw sx="100000" sy="100000" kx="0" ky="0" algn="bl" rotWithShape="0" blurRad="76200" dist="25400" dir="5400000">
              <a:srgbClr val="000000">
                <a:alpha val="12000"/>
              </a:srgbClr>
            </a:outerShdw>
          </a:effectLst>
        </p:spPr>
      </p:sp>
      <p:sp>
        <p:nvSpPr>
          <p:cNvPr id="29" name="issue-badge-5"/>
          <p:cNvSpPr/>
          <p:nvPr/>
        </p:nvSpPr>
        <p:spPr>
          <a:xfrm>
            <a:off x="6199632" y="3044952"/>
            <a:ext cx="365760" cy="365760"/>
          </a:xfrm>
          <a:prstGeom prst="ellipse">
            <a:avLst/>
          </a:prstGeom>
          <a:solidFill>
            <a:srgbClr val="8E2C24"/>
          </a:solidFill>
          <a:ln/>
        </p:spPr>
      </p:sp>
      <p:sp>
        <p:nvSpPr>
          <p:cNvPr id="30" name="issue-badge-5-label"/>
          <p:cNvSpPr txBox="1"/>
          <p:nvPr/>
        </p:nvSpPr>
        <p:spPr>
          <a:xfrm>
            <a:off x="6199632" y="30449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1" name="Text 29"/>
          <p:cNvSpPr txBox="1"/>
          <p:nvPr/>
        </p:nvSpPr>
        <p:spPr>
          <a:xfrm>
            <a:off x="6675120" y="2999232"/>
            <a:ext cx="1874520" cy="457200"/>
          </a:xfrm>
          <a:prstGeom prst="rect">
            <a:avLst/>
          </a:prstGeom>
          <a:noFill/>
          <a:ln/>
        </p:spPr>
        <p:txBody>
          <a:bodyPr wrap="square" lIns="0" tIns="0" rIns="0" bIns="0" rtlCol="0" anchor="ctr"/>
          <a:lstStyle/>
          <a:p>
            <a:pPr indent="0" marL="0">
              <a:buNone/>
            </a:pPr>
            <a:r>
              <a:rPr lang="en-US" sz="1300" b="1" dirty="0">
                <a:solidFill>
                  <a:schemeClr val="tx2"/>
                </a:solidFill>
              </a:rPr>
              <a:t>Thay thế, sửa đổi chưa tự động</a:t>
            </a:r>
            <a:endParaRPr lang="en-US" sz="1300" dirty="0"/>
          </a:p>
        </p:txBody>
      </p:sp>
      <p:sp>
        <p:nvSpPr>
          <p:cNvPr id="32" name="Text 30"/>
          <p:cNvSpPr txBox="1"/>
          <p:nvPr/>
        </p:nvSpPr>
        <p:spPr>
          <a:xfrm>
            <a:off x="6217920" y="3538728"/>
            <a:ext cx="2286000" cy="914400"/>
          </a:xfrm>
          <a:prstGeom prst="rect">
            <a:avLst/>
          </a:prstGeom>
          <a:noFill/>
          <a:ln/>
        </p:spPr>
        <p:txBody>
          <a:bodyPr wrap="square" lIns="0" tIns="0" rIns="0" bIns="0" rtlCol="0" anchor="t"/>
          <a:lstStyle/>
          <a:p>
            <a:pPr indent="0" marL="0">
              <a:buNone/>
            </a:pPr>
            <a:r>
              <a:rPr lang="en-US" sz="1200" dirty="0">
                <a:solidFill>
                  <a:schemeClr val="accent3"/>
                </a:solidFill>
              </a:rPr>
              <a:t>Chưa parse câu "thay thế / hết hiệu lực"; still_valid luôn true, amends luôn rỗng.</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Hiện trạng và hướng tiếp theo</a:t>
            </a:r>
            <a:endParaRPr lang="en-US" sz="2800" dirty="0"/>
          </a:p>
        </p:txBody>
      </p:sp>
      <p:sp>
        <p:nvSpPr>
          <p:cNvPr id="3" name="col-0"/>
          <p:cNvSpPr/>
          <p:nvPr/>
        </p:nvSpPr>
        <p:spPr>
          <a:xfrm>
            <a:off x="457200" y="1097280"/>
            <a:ext cx="2651760" cy="2834640"/>
          </a:xfrm>
          <a:prstGeom prst="roundRect">
            <a:avLst>
              <a:gd name="adj" fmla="val 2759"/>
            </a:avLst>
          </a:prstGeom>
          <a:solidFill>
            <a:srgbClr val="F4EDEB"/>
          </a:solidFill>
          <a:ln/>
          <a:effectLst>
            <a:outerShdw sx="100000" sy="100000" kx="0" ky="0" algn="bl" rotWithShape="0" blurRad="76200" dist="25400" dir="5400000">
              <a:srgbClr val="000000">
                <a:alpha val="12000"/>
              </a:srgbClr>
            </a:outerShdw>
          </a:effectLst>
        </p:spPr>
      </p:sp>
      <p:sp>
        <p:nvSpPr>
          <p:cNvPr id="4" name="col-head-0"/>
          <p:cNvSpPr/>
          <p:nvPr/>
        </p:nvSpPr>
        <p:spPr>
          <a:xfrm>
            <a:off x="640080" y="1261872"/>
            <a:ext cx="2286000" cy="411480"/>
          </a:xfrm>
          <a:prstGeom prst="roundRect">
            <a:avLst>
              <a:gd name="adj" fmla="val 17778"/>
            </a:avLst>
          </a:prstGeom>
          <a:solidFill>
            <a:srgbClr val="2E6B5E"/>
          </a:solidFill>
          <a:ln/>
        </p:spPr>
      </p:sp>
      <p:sp>
        <p:nvSpPr>
          <p:cNvPr id="5" name="Text 3"/>
          <p:cNvSpPr txBox="1"/>
          <p:nvPr/>
        </p:nvSpPr>
        <p:spPr>
          <a:xfrm>
            <a:off x="640080" y="1261872"/>
            <a:ext cx="2286000" cy="411480"/>
          </a:xfrm>
          <a:prstGeom prst="rect">
            <a:avLst/>
          </a:prstGeom>
          <a:noFill/>
          <a:ln/>
        </p:spPr>
        <p:txBody>
          <a:bodyPr wrap="square" lIns="0" tIns="0" rIns="0" bIns="0" rtlCol="0" anchor="ctr"/>
          <a:lstStyle/>
          <a:p>
            <a:pPr algn="ctr" indent="0" marL="0">
              <a:buNone/>
            </a:pPr>
            <a:r>
              <a:rPr lang="en-US" sz="1500" b="1" dirty="0">
                <a:solidFill>
                  <a:schemeClr val="bg1"/>
                </a:solidFill>
              </a:rPr>
              <a:t>Đã làm</a:t>
            </a:r>
            <a:endParaRPr lang="en-US" sz="1500" dirty="0"/>
          </a:p>
        </p:txBody>
      </p:sp>
      <p:sp>
        <p:nvSpPr>
          <p:cNvPr id="6" name="Text 4"/>
          <p:cNvSpPr txBox="1"/>
          <p:nvPr/>
        </p:nvSpPr>
        <p:spPr>
          <a:xfrm>
            <a:off x="640080" y="1874520"/>
            <a:ext cx="2331720" cy="25603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Schema chunk v5 chung cho hai nguồn</a:t>
            </a:r>
            <a:endParaRPr lang="en-US" sz="1400" dirty="0"/>
          </a:p>
          <a:p>
            <a:pPr marL="177800" indent="-177800">
              <a:spcAft>
                <a:spcPts val="800"/>
              </a:spcAft>
              <a:buSzPct val="100000"/>
              <a:buChar char="•"/>
            </a:pPr>
            <a:r>
              <a:rPr lang="en-US" sz="1400" dirty="0">
                <a:solidFill>
                  <a:schemeClr val="tx1"/>
                </a:solidFill>
              </a:rPr>
              <a:t>Pháp điển Lao động: 1.481 chunk</a:t>
            </a:r>
            <a:endParaRPr lang="en-US" sz="1400" dirty="0"/>
          </a:p>
          <a:p>
            <a:pPr marL="177800" indent="-177800">
              <a:spcAft>
                <a:spcPts val="800"/>
              </a:spcAft>
              <a:buSzPct val="100000"/>
              <a:buChar char="•"/>
            </a:pPr>
            <a:r>
              <a:rPr lang="en-US" sz="1400" dirty="0">
                <a:solidFill>
                  <a:schemeClr val="tx1"/>
                </a:solidFill>
              </a:rPr>
              <a:t>Có code và test cho pdf_to_chunks, merge</a:t>
            </a:r>
            <a:endParaRPr lang="en-US" sz="1400" dirty="0"/>
          </a:p>
          <a:p>
            <a:pPr marL="177800" indent="-177800">
              <a:spcAft>
                <a:spcPts val="800"/>
              </a:spcAft>
              <a:buSzPct val="100000"/>
              <a:buChar char="•"/>
            </a:pPr>
            <a:r>
              <a:rPr lang="en-US" sz="1400" dirty="0">
                <a:solidFill>
                  <a:schemeClr val="tx1"/>
                </a:solidFill>
              </a:rPr>
              <a:t>Filter hiệu lực khi truy vấn</a:t>
            </a:r>
            <a:endParaRPr lang="en-US" sz="1400" dirty="0"/>
          </a:p>
        </p:txBody>
      </p:sp>
      <p:sp>
        <p:nvSpPr>
          <p:cNvPr id="7" name="col-1"/>
          <p:cNvSpPr/>
          <p:nvPr/>
        </p:nvSpPr>
        <p:spPr>
          <a:xfrm>
            <a:off x="3246120" y="1097280"/>
            <a:ext cx="2651760" cy="2834640"/>
          </a:xfrm>
          <a:prstGeom prst="roundRect">
            <a:avLst>
              <a:gd name="adj" fmla="val 2759"/>
            </a:avLst>
          </a:prstGeom>
          <a:solidFill>
            <a:srgbClr val="F4EDEB"/>
          </a:solidFill>
          <a:ln/>
          <a:effectLst>
            <a:outerShdw sx="100000" sy="100000" kx="0" ky="0" algn="bl" rotWithShape="0" blurRad="76200" dist="25400" dir="5400000">
              <a:srgbClr val="000000">
                <a:alpha val="12000"/>
              </a:srgbClr>
            </a:outerShdw>
          </a:effectLst>
        </p:spPr>
      </p:sp>
      <p:sp>
        <p:nvSpPr>
          <p:cNvPr id="8" name="col-head-1"/>
          <p:cNvSpPr/>
          <p:nvPr/>
        </p:nvSpPr>
        <p:spPr>
          <a:xfrm>
            <a:off x="3429000" y="1261872"/>
            <a:ext cx="2286000" cy="411480"/>
          </a:xfrm>
          <a:prstGeom prst="roundRect">
            <a:avLst>
              <a:gd name="adj" fmla="val 17778"/>
            </a:avLst>
          </a:prstGeom>
          <a:solidFill>
            <a:srgbClr val="9A6B12"/>
          </a:solidFill>
          <a:ln/>
        </p:spPr>
      </p:sp>
      <p:sp>
        <p:nvSpPr>
          <p:cNvPr id="9" name="Text 7"/>
          <p:cNvSpPr txBox="1"/>
          <p:nvPr/>
        </p:nvSpPr>
        <p:spPr>
          <a:xfrm>
            <a:off x="3429000" y="1261872"/>
            <a:ext cx="2286000" cy="411480"/>
          </a:xfrm>
          <a:prstGeom prst="rect">
            <a:avLst/>
          </a:prstGeom>
          <a:noFill/>
          <a:ln/>
        </p:spPr>
        <p:txBody>
          <a:bodyPr wrap="square" lIns="0" tIns="0" rIns="0" bIns="0" rtlCol="0" anchor="ctr"/>
          <a:lstStyle/>
          <a:p>
            <a:pPr algn="ctr" indent="0" marL="0">
              <a:buNone/>
            </a:pPr>
            <a:r>
              <a:rPr lang="en-US" sz="1500" b="1" dirty="0">
                <a:solidFill>
                  <a:schemeClr val="bg1"/>
                </a:solidFill>
              </a:rPr>
              <a:t>Chưa kiểm chứng</a:t>
            </a:r>
            <a:endParaRPr lang="en-US" sz="1500" dirty="0"/>
          </a:p>
        </p:txBody>
      </p:sp>
      <p:sp>
        <p:nvSpPr>
          <p:cNvPr id="10" name="Text 8"/>
          <p:cNvSpPr txBox="1"/>
          <p:nvPr/>
        </p:nvSpPr>
        <p:spPr>
          <a:xfrm>
            <a:off x="3429000" y="1874520"/>
            <a:ext cx="2331720" cy="25603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Chưa chạy pipeline PDF trên OCR thật của Luat_lao_dong.pdf</a:t>
            </a:r>
            <a:endParaRPr lang="en-US" sz="1400" dirty="0"/>
          </a:p>
          <a:p>
            <a:pPr marL="177800" indent="-177800">
              <a:spcAft>
                <a:spcPts val="800"/>
              </a:spcAft>
              <a:buSzPct val="100000"/>
              <a:buChar char="•"/>
            </a:pPr>
            <a:r>
              <a:rPr lang="en-US" sz="1400" dirty="0">
                <a:solidFill>
                  <a:schemeClr val="tx1"/>
                </a:solidFill>
              </a:rPr>
              <a:t>Cần đo: số Điều nhận được (~220), Điều sai số, chú thích tách đúng chưa</a:t>
            </a:r>
            <a:endParaRPr lang="en-US" sz="1400" dirty="0"/>
          </a:p>
        </p:txBody>
      </p:sp>
      <p:sp>
        <p:nvSpPr>
          <p:cNvPr id="11" name="col-2"/>
          <p:cNvSpPr/>
          <p:nvPr/>
        </p:nvSpPr>
        <p:spPr>
          <a:xfrm>
            <a:off x="6035040" y="1097280"/>
            <a:ext cx="2651760" cy="2834640"/>
          </a:xfrm>
          <a:prstGeom prst="roundRect">
            <a:avLst>
              <a:gd name="adj" fmla="val 2759"/>
            </a:avLst>
          </a:prstGeom>
          <a:solidFill>
            <a:srgbClr val="F4EDEB"/>
          </a:solidFill>
          <a:ln/>
          <a:effectLst>
            <a:outerShdw sx="100000" sy="100000" kx="0" ky="0" algn="bl" rotWithShape="0" blurRad="76200" dist="25400" dir="5400000">
              <a:srgbClr val="000000">
                <a:alpha val="12000"/>
              </a:srgbClr>
            </a:outerShdw>
          </a:effectLst>
        </p:spPr>
      </p:sp>
      <p:sp>
        <p:nvSpPr>
          <p:cNvPr id="12" name="col-head-2"/>
          <p:cNvSpPr/>
          <p:nvPr/>
        </p:nvSpPr>
        <p:spPr>
          <a:xfrm>
            <a:off x="6217920" y="1261872"/>
            <a:ext cx="2286000" cy="411480"/>
          </a:xfrm>
          <a:prstGeom prst="roundRect">
            <a:avLst>
              <a:gd name="adj" fmla="val 17778"/>
            </a:avLst>
          </a:prstGeom>
          <a:solidFill>
            <a:srgbClr val="8E2C24"/>
          </a:solidFill>
          <a:ln/>
        </p:spPr>
      </p:sp>
      <p:sp>
        <p:nvSpPr>
          <p:cNvPr id="13" name="Text 11"/>
          <p:cNvSpPr txBox="1"/>
          <p:nvPr/>
        </p:nvSpPr>
        <p:spPr>
          <a:xfrm>
            <a:off x="6217920" y="1261872"/>
            <a:ext cx="2286000" cy="411480"/>
          </a:xfrm>
          <a:prstGeom prst="rect">
            <a:avLst/>
          </a:prstGeom>
          <a:noFill/>
          <a:ln/>
        </p:spPr>
        <p:txBody>
          <a:bodyPr wrap="square" lIns="0" tIns="0" rIns="0" bIns="0" rtlCol="0" anchor="ctr"/>
          <a:lstStyle/>
          <a:p>
            <a:pPr algn="ctr" indent="0" marL="0">
              <a:buNone/>
            </a:pPr>
            <a:r>
              <a:rPr lang="en-US" sz="1500" b="1" dirty="0">
                <a:solidFill>
                  <a:schemeClr val="bg1"/>
                </a:solidFill>
              </a:rPr>
              <a:t>Tiếp theo</a:t>
            </a:r>
            <a:endParaRPr lang="en-US" sz="1500" dirty="0"/>
          </a:p>
        </p:txBody>
      </p:sp>
      <p:sp>
        <p:nvSpPr>
          <p:cNvPr id="14" name="Text 12"/>
          <p:cNvSpPr txBox="1"/>
          <p:nvPr/>
        </p:nvSpPr>
        <p:spPr>
          <a:xfrm>
            <a:off x="6217920" y="1874520"/>
            <a:ext cx="2331720" cy="25603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Parse câu "thay thế / hết hiệu lực" và dùng cạnh REPLACES trong KG để đặt still_valid</a:t>
            </a:r>
            <a:endParaRPr lang="en-US" sz="1400" dirty="0"/>
          </a:p>
          <a:p>
            <a:pPr marL="177800" indent="-177800">
              <a:spcAft>
                <a:spcPts val="800"/>
              </a:spcAft>
              <a:buSzPct val="100000"/>
              <a:buChar char="•"/>
            </a:pPr>
            <a:r>
              <a:rPr lang="en-US" sz="1400" dirty="0">
                <a:solidFill>
                  <a:schemeClr val="tx1"/>
                </a:solidFill>
              </a:rPr>
              <a:t>Parse chú thích sửa đổi thành amends / amended_by</a:t>
            </a:r>
            <a:endParaRPr lang="en-US" sz="1400" dirty="0"/>
          </a:p>
          <a:p>
            <a:pPr marL="177800" indent="-177800">
              <a:spcAft>
                <a:spcPts val="800"/>
              </a:spcAft>
              <a:buSzPct val="100000"/>
              <a:buChar char="•"/>
            </a:pPr>
            <a:r>
              <a:rPr lang="en-US" sz="1400" dirty="0">
                <a:solidFill>
                  <a:schemeClr val="tx1"/>
                </a:solidFill>
              </a:rPr>
              <a:t>Tách phụ lục, xử lý bảng</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PBL6 Legal">
  <a:themeElements>
    <a:clrScheme name="PBL6 Legal">
      <a:dk1>
        <a:srgbClr val="222222"/>
      </a:dk1>
      <a:lt1>
        <a:srgbClr val="FFFFFF"/>
      </a:lt1>
      <a:dk2>
        <a:srgbClr val="4A1814"/>
      </a:dk2>
      <a:lt2>
        <a:srgbClr val="F4EDEB"/>
      </a:lt2>
      <a:accent1>
        <a:srgbClr val="8E2C24"/>
      </a:accent1>
      <a:accent2>
        <a:srgbClr val="9A6B12"/>
      </a:accent2>
      <a:accent3>
        <a:srgbClr val="4A5A6A"/>
      </a:accent3>
      <a:accent4>
        <a:srgbClr val="2E6B5E"/>
      </a:accent4>
      <a:accent5>
        <a:srgbClr val="D9C7C3"/>
      </a:accent5>
      <a:accent6>
        <a:srgbClr val="7A7A7A"/>
      </a:accent6>
      <a:hlink>
        <a:srgbClr val="8E2C24"/>
      </a:hlink>
      <a:folHlink>
        <a:srgbClr val="4A5A6A"/>
      </a:folHlink>
    </a:clrScheme>
    <a:fontScheme name="PBL6 Leg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Chuẩn hóa dữ liệu Pháp điển và PDF</dc:title>
  <dc:subject>PptxGenJS Presentation</dc:subject>
  <dc:creator>PptxGenJS</dc:creator>
  <cp:lastModifiedBy>PptxGenJS</cp:lastModifiedBy>
  <cp:revision>1</cp:revision>
  <dcterms:created xsi:type="dcterms:W3CDTF">2026-10-14T01:45:07Z</dcterms:created>
  <dcterms:modified xsi:type="dcterms:W3CDTF">2026-10-14T01:45:07Z</dcterms:modified>
</cp:coreProperties>
</file>